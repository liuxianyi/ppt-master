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handoutMasterIdLst>
    <p:handoutMasterId r:id="rId22"/>
  </p:handoutMasterIdLst>
  <p:sldIdLst>
    <p:sldId id="257" r:id="rId3"/>
    <p:sldId id="256" r:id="rId4"/>
    <p:sldId id="267" r:id="rId5"/>
    <p:sldId id="260" r:id="rId6"/>
    <p:sldId id="271" r:id="rId7"/>
    <p:sldId id="258" r:id="rId9"/>
    <p:sldId id="262" r:id="rId10"/>
    <p:sldId id="269" r:id="rId11"/>
    <p:sldId id="282" r:id="rId12"/>
    <p:sldId id="270" r:id="rId13"/>
    <p:sldId id="263" r:id="rId14"/>
    <p:sldId id="277" r:id="rId15"/>
    <p:sldId id="274" r:id="rId16"/>
    <p:sldId id="272" r:id="rId17"/>
    <p:sldId id="264" r:id="rId18"/>
    <p:sldId id="275" r:id="rId19"/>
    <p:sldId id="276" r:id="rId20"/>
    <p:sldId id="265" r:id="rId21"/>
  </p:sldIdLst>
  <p:sldSz cx="12192000" cy="6858000"/>
  <p:notesSz cx="6858000" cy="9144000"/>
  <p:embeddedFontLst>
    <p:embeddedFont>
      <p:font typeface="庞门正道标题体" panose="02010600030101010101" charset="-122"/>
      <p:regular r:id="rId27"/>
    </p:embeddedFont>
  </p:embeddedFontLst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89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DY" initials="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BF0"/>
    <a:srgbClr val="367212"/>
    <a:srgbClr val="2E6310"/>
    <a:srgbClr val="E4ECF3"/>
    <a:srgbClr val="C9D8E7"/>
    <a:srgbClr val="50AD1D"/>
    <a:srgbClr val="22A13A"/>
    <a:srgbClr val="76BC30"/>
    <a:srgbClr val="224B0C"/>
    <a:srgbClr val="3A7E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4"/>
        <p:guide pos="389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222.xml"/><Relationship Id="rId27" Type="http://schemas.openxmlformats.org/officeDocument/2006/relationships/font" Target="fonts/font1.fntdata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旗黑-50简" panose="00020600040101010101" charset="-122"/>
              <a:ea typeface="汉仪旗黑-50简" panose="0002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旗黑-50简" panose="00020600040101010101" charset="-122"/>
                <a:ea typeface="汉仪旗黑-50简" panose="00020600040101010101" charset="-122"/>
              </a:rPr>
            </a:fld>
            <a:endParaRPr lang="zh-CN" altLang="en-US">
              <a:latin typeface="汉仪旗黑-50简" panose="00020600040101010101" charset="-122"/>
              <a:ea typeface="汉仪旗黑-50简" panose="0002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旗黑-50简" panose="00020600040101010101" charset="-122"/>
              <a:ea typeface="汉仪旗黑-50简" panose="0002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旗黑-50简" panose="00020600040101010101" charset="-122"/>
                <a:ea typeface="汉仪旗黑-50简" panose="00020600040101010101" charset="-122"/>
              </a:rPr>
            </a:fld>
            <a:endParaRPr lang="zh-CN" altLang="en-US">
              <a:latin typeface="汉仪旗黑-50简" panose="00020600040101010101" charset="-122"/>
              <a:ea typeface="汉仪旗黑-50简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旗黑-50简" panose="00020600040101010101" charset="-122"/>
                <a:ea typeface="汉仪旗黑-50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旗黑-50简" panose="00020600040101010101" charset="-122"/>
                <a:ea typeface="汉仪旗黑-50简" panose="0002060004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旗黑-50简" panose="00020600040101010101" charset="-122"/>
                <a:ea typeface="汉仪旗黑-50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旗黑-50简" panose="00020600040101010101" charset="-122"/>
                <a:ea typeface="汉仪旗黑-50简" panose="0002060004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旗黑-50简" panose="00020600040101010101" charset="-122"/>
        <a:ea typeface="汉仪旗黑-50简" panose="0002060004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旗黑-50简" panose="00020600040101010101" charset="-122"/>
        <a:ea typeface="汉仪旗黑-50简" panose="0002060004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旗黑-50简" panose="00020600040101010101" charset="-122"/>
        <a:ea typeface="汉仪旗黑-50简" panose="0002060004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旗黑-50简" panose="00020600040101010101" charset="-122"/>
        <a:ea typeface="汉仪旗黑-50简" panose="0002060004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旗黑-50简" panose="00020600040101010101" charset="-122"/>
        <a:ea typeface="汉仪旗黑-50简" panose="0002060004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汉仪旗黑-50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汉仪旗黑-50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汉仪旗黑-50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汉仪旗黑-50简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0简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0简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0简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0简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0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4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image" Target="../media/image5.png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5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image" Target="../media/image4.png"/><Relationship Id="rId1" Type="http://schemas.openxmlformats.org/officeDocument/2006/relationships/tags" Target="../tags/tag7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0" Type="http://schemas.openxmlformats.org/officeDocument/2006/relationships/notesSlide" Target="../notesSlides/notesSlide1.xml"/><Relationship Id="rId1" Type="http://schemas.openxmlformats.org/officeDocument/2006/relationships/tags" Target="../tags/tag8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image" Target="../media/image6.png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tags" Target="../tags/tag90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image" Target="../media/image4.png"/><Relationship Id="rId1" Type="http://schemas.openxmlformats.org/officeDocument/2006/relationships/tags" Target="../tags/tag10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16.xml"/><Relationship Id="rId1" Type="http://schemas.openxmlformats.org/officeDocument/2006/relationships/tags" Target="../tags/tag10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1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tags" Target="../tags/tag126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image" Target="../media/image4.png"/><Relationship Id="rId1" Type="http://schemas.openxmlformats.org/officeDocument/2006/relationships/tags" Target="../tags/tag13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5.xml"/><Relationship Id="rId14" Type="http://schemas.openxmlformats.org/officeDocument/2006/relationships/tags" Target="../tags/tag154.xml"/><Relationship Id="rId13" Type="http://schemas.openxmlformats.org/officeDocument/2006/relationships/tags" Target="../tags/tag153.xml"/><Relationship Id="rId12" Type="http://schemas.openxmlformats.org/officeDocument/2006/relationships/tags" Target="../tags/tag152.xml"/><Relationship Id="rId11" Type="http://schemas.openxmlformats.org/officeDocument/2006/relationships/tags" Target="../tags/tag151.xml"/><Relationship Id="rId10" Type="http://schemas.openxmlformats.org/officeDocument/2006/relationships/tags" Target="../tags/tag150.xml"/><Relationship Id="rId1" Type="http://schemas.openxmlformats.org/officeDocument/2006/relationships/tags" Target="../tags/tag14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67.xml"/><Relationship Id="rId12" Type="http://schemas.openxmlformats.org/officeDocument/2006/relationships/image" Target="../media/image7.png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tags" Target="../tags/tag15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81.xml"/><Relationship Id="rId13" Type="http://schemas.openxmlformats.org/officeDocument/2006/relationships/tags" Target="../tags/tag180.xml"/><Relationship Id="rId12" Type="http://schemas.openxmlformats.org/officeDocument/2006/relationships/tags" Target="../tags/tag179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tags" Target="../tags/tag168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image" Target="../media/image4.png"/><Relationship Id="rId1" Type="http://schemas.openxmlformats.org/officeDocument/2006/relationships/tags" Target="../tags/tag18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93.xml"/><Relationship Id="rId7" Type="http://schemas.openxmlformats.org/officeDocument/2006/relationships/image" Target="../media/image8.png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218.xml"/><Relationship Id="rId24" Type="http://schemas.openxmlformats.org/officeDocument/2006/relationships/tags" Target="../tags/tag217.xml"/><Relationship Id="rId23" Type="http://schemas.openxmlformats.org/officeDocument/2006/relationships/tags" Target="../tags/tag216.xml"/><Relationship Id="rId22" Type="http://schemas.openxmlformats.org/officeDocument/2006/relationships/tags" Target="../tags/tag215.xml"/><Relationship Id="rId21" Type="http://schemas.openxmlformats.org/officeDocument/2006/relationships/tags" Target="../tags/tag214.xml"/><Relationship Id="rId20" Type="http://schemas.openxmlformats.org/officeDocument/2006/relationships/tags" Target="../tags/tag213.xml"/><Relationship Id="rId2" Type="http://schemas.openxmlformats.org/officeDocument/2006/relationships/tags" Target="../tags/tag195.xml"/><Relationship Id="rId19" Type="http://schemas.openxmlformats.org/officeDocument/2006/relationships/tags" Target="../tags/tag212.xml"/><Relationship Id="rId18" Type="http://schemas.openxmlformats.org/officeDocument/2006/relationships/tags" Target="../tags/tag211.xml"/><Relationship Id="rId17" Type="http://schemas.openxmlformats.org/officeDocument/2006/relationships/tags" Target="../tags/tag210.xml"/><Relationship Id="rId16" Type="http://schemas.openxmlformats.org/officeDocument/2006/relationships/tags" Target="../tags/tag209.xml"/><Relationship Id="rId15" Type="http://schemas.openxmlformats.org/officeDocument/2006/relationships/tags" Target="../tags/tag208.xml"/><Relationship Id="rId14" Type="http://schemas.openxmlformats.org/officeDocument/2006/relationships/tags" Target="../tags/tag207.xml"/><Relationship Id="rId13" Type="http://schemas.openxmlformats.org/officeDocument/2006/relationships/tags" Target="../tags/tag206.xml"/><Relationship Id="rId12" Type="http://schemas.openxmlformats.org/officeDocument/2006/relationships/tags" Target="../tags/tag205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tags" Target="../tags/tag194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221.xml"/><Relationship Id="rId5" Type="http://schemas.openxmlformats.org/officeDocument/2006/relationships/image" Target="../media/image3.png"/><Relationship Id="rId4" Type="http://schemas.openxmlformats.org/officeDocument/2006/relationships/tags" Target="../tags/tag220.xml"/><Relationship Id="rId3" Type="http://schemas.openxmlformats.org/officeDocument/2006/relationships/image" Target="../media/image2.png"/><Relationship Id="rId2" Type="http://schemas.openxmlformats.org/officeDocument/2006/relationships/tags" Target="../tags/tag219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lum bright="12000"/>
          </a:blip>
          <a:srcRect t="48496" b="10258"/>
          <a:stretch>
            <a:fillRect/>
          </a:stretch>
        </p:blipFill>
        <p:spPr>
          <a:xfrm>
            <a:off x="-5080" y="4185285"/>
            <a:ext cx="12197080" cy="2746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">
            <a:alphaModFix amt="36000"/>
          </a:blip>
          <a:srcRect b="51069"/>
          <a:stretch>
            <a:fillRect/>
          </a:stretch>
        </p:blipFill>
        <p:spPr>
          <a:xfrm>
            <a:off x="-5080" y="0"/>
            <a:ext cx="12197080" cy="419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0180" y="1504950"/>
            <a:ext cx="120218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庞门正道标题体" panose="02010600030101010101" charset="-122"/>
                <a:ea typeface="庞门正道标题体" panose="02010600030101010101" charset="-122"/>
                <a:cs typeface="庞门正道标题体" panose="02010600030101010101" charset="-122"/>
                <a:sym typeface="+mn-ea"/>
              </a:rPr>
              <a:t>“日粮添加丁酸钠对肉鸡生长后期生长性能、血清、生化指标和肠道形态的影响 ”</a:t>
            </a:r>
            <a:endParaRPr lang="zh-CN" altLang="en-US" sz="480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庞门正道标题体" panose="02010600030101010101" charset="-122"/>
              <a:ea typeface="庞门正道标题体" panose="02010600030101010101" charset="-122"/>
              <a:cs typeface="庞门正道标题体" panose="02010600030101010101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000500" y="3339465"/>
            <a:ext cx="4608830" cy="751205"/>
            <a:chOff x="5423" y="5719"/>
            <a:chExt cx="6940" cy="1183"/>
          </a:xfrm>
        </p:grpSpPr>
        <p:sp>
          <p:nvSpPr>
            <p:cNvPr id="10" name="圆角矩形 9"/>
            <p:cNvSpPr/>
            <p:nvPr/>
          </p:nvSpPr>
          <p:spPr>
            <a:xfrm>
              <a:off x="5423" y="5719"/>
              <a:ext cx="6722" cy="722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6AE02"/>
                </a:gs>
                <a:gs pos="100000">
                  <a:srgbClr val="224B0C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424" y="5789"/>
              <a:ext cx="6939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en-US" altLang="zh-CN" sz="2000">
                  <a:solidFill>
                    <a:schemeClr val="bg1"/>
                  </a:solidFill>
                  <a:latin typeface="汉仪旗黑-75S" panose="00020600040101010101" charset="-122"/>
                  <a:ea typeface="汉仪旗黑-75S" panose="00020600040101010101" charset="-122"/>
                  <a:cs typeface="汉仪旗黑-75S" panose="00020600040101010101" charset="-122"/>
                </a:rPr>
                <a:t> 动物科学与医学学院  张思尧	 	</a:t>
              </a:r>
              <a:endParaRPr lang="en-US" altLang="zh-CN" sz="2000">
                <a:solidFill>
                  <a:schemeClr val="bg1"/>
                </a:solidFill>
                <a:latin typeface="汉仪旗黑-75S" panose="00020600040101010101" charset="-122"/>
                <a:ea typeface="汉仪旗黑-75S" panose="00020600040101010101" charset="-122"/>
                <a:cs typeface="汉仪旗黑-75S" panose="00020600040101010101" charset="-122"/>
              </a:endParaRPr>
            </a:p>
          </p:txBody>
        </p:sp>
      </p:grpSp>
      <p:pic>
        <p:nvPicPr>
          <p:cNvPr id="102" name="图片 101"/>
          <p:cNvPicPr/>
          <p:nvPr/>
        </p:nvPicPr>
        <p:blipFill>
          <a:blip r:embed="rId3"/>
          <a:srcRect l="35637" b="30352"/>
          <a:stretch>
            <a:fillRect/>
          </a:stretch>
        </p:blipFill>
        <p:spPr>
          <a:xfrm>
            <a:off x="8406765" y="-686435"/>
            <a:ext cx="4163060" cy="47764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0"/>
          <p:cNvPicPr/>
          <p:nvPr/>
        </p:nvPicPr>
        <p:blipFill>
          <a:blip r:embed="rId3"/>
          <a:srcRect l="9601" t="59176" r="50079" b="9843"/>
          <a:stretch>
            <a:fillRect/>
          </a:stretch>
        </p:blipFill>
        <p:spPr>
          <a:xfrm>
            <a:off x="435610" y="3676015"/>
            <a:ext cx="2607945" cy="21247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/>
          <p:nvPr/>
        </p:nvPicPr>
        <p:blipFill>
          <a:blip r:embed="rId4"/>
        </p:blipFill>
        <p:spPr>
          <a:xfrm>
            <a:off x="3043555" y="4401185"/>
            <a:ext cx="5207000" cy="1651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rcRect t="34131" b="38530"/>
          <a:stretch>
            <a:fillRect/>
          </a:stretch>
        </p:blipFill>
        <p:spPr>
          <a:xfrm>
            <a:off x="0" y="0"/>
            <a:ext cx="12192000" cy="3051810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1339215" y="3796665"/>
            <a:ext cx="4372610" cy="791210"/>
            <a:chOff x="7176" y="1788"/>
            <a:chExt cx="6886" cy="1246"/>
          </a:xfrm>
        </p:grpSpPr>
        <p:sp>
          <p:nvSpPr>
            <p:cNvPr id="14" name="圆角矩形 13"/>
            <p:cNvSpPr/>
            <p:nvPr/>
          </p:nvSpPr>
          <p:spPr>
            <a:xfrm>
              <a:off x="7891" y="1788"/>
              <a:ext cx="6171" cy="124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r="2700000" algn="tl" rotWithShape="0">
                <a:srgbClr val="3A7F1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对角圆角矩形 12"/>
            <p:cNvSpPr/>
            <p:nvPr/>
          </p:nvSpPr>
          <p:spPr>
            <a:xfrm flipH="1">
              <a:off x="7176" y="1788"/>
              <a:ext cx="2191" cy="1246"/>
            </a:xfrm>
            <a:prstGeom prst="round2DiagRect">
              <a:avLst>
                <a:gd name="adj1" fmla="val 39329"/>
                <a:gd name="adj2" fmla="val 0"/>
              </a:avLst>
            </a:prstGeom>
            <a:gradFill>
              <a:gsLst>
                <a:gs pos="0">
                  <a:srgbClr val="36AE02"/>
                </a:gs>
                <a:gs pos="100000">
                  <a:srgbClr val="224B0C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3200">
                  <a:latin typeface="汉仪旗黑-75S" panose="00020600040101010101" charset="-122"/>
                  <a:ea typeface="汉仪旗黑-75S" panose="00020600040101010101" charset="-122"/>
                </a:rPr>
                <a:t>01</a:t>
              </a:r>
              <a:endParaRPr lang="en-US" altLang="zh-CN" sz="3200">
                <a:latin typeface="汉仪旗黑-75S" panose="00020600040101010101" charset="-122"/>
                <a:ea typeface="汉仪旗黑-75S" panose="00020600040101010101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749" y="2066"/>
              <a:ext cx="393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800">
                  <a:gradFill>
                    <a:gsLst>
                      <a:gs pos="0">
                        <a:srgbClr val="50AD1D"/>
                      </a:gs>
                      <a:gs pos="100000">
                        <a:srgbClr val="224B0C"/>
                      </a:gs>
                    </a:gsLst>
                    <a:lin ang="5400000" scaled="0"/>
                  </a:gradFill>
                  <a:latin typeface="汉仪旗黑-75S" panose="00020600040101010101" charset="-122"/>
                  <a:ea typeface="汉仪旗黑-75S" panose="00020600040101010101" charset="-122"/>
                </a:rPr>
                <a:t>材料与方法</a:t>
              </a:r>
              <a:endParaRPr lang="zh-CN" altLang="en-US" sz="280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507480" y="3839210"/>
            <a:ext cx="4372610" cy="791210"/>
            <a:chOff x="7176" y="1788"/>
            <a:chExt cx="6886" cy="1246"/>
          </a:xfrm>
        </p:grpSpPr>
        <p:sp>
          <p:nvSpPr>
            <p:cNvPr id="18" name="圆角矩形 17"/>
            <p:cNvSpPr/>
            <p:nvPr/>
          </p:nvSpPr>
          <p:spPr>
            <a:xfrm>
              <a:off x="7891" y="1788"/>
              <a:ext cx="6171" cy="124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r="2700000" algn="tl" rotWithShape="0">
                <a:srgbClr val="3A7F1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对角圆角矩形 18"/>
            <p:cNvSpPr/>
            <p:nvPr/>
          </p:nvSpPr>
          <p:spPr>
            <a:xfrm flipH="1">
              <a:off x="7176" y="1788"/>
              <a:ext cx="2191" cy="1246"/>
            </a:xfrm>
            <a:prstGeom prst="round2DiagRect">
              <a:avLst>
                <a:gd name="adj1" fmla="val 39329"/>
                <a:gd name="adj2" fmla="val 0"/>
              </a:avLst>
            </a:prstGeom>
            <a:gradFill>
              <a:gsLst>
                <a:gs pos="0">
                  <a:srgbClr val="36AE02"/>
                </a:gs>
                <a:gs pos="100000">
                  <a:srgbClr val="224B0C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3200">
                  <a:latin typeface="汉仪旗黑-75S" panose="00020600040101010101" charset="-122"/>
                  <a:ea typeface="汉仪旗黑-75S" panose="00020600040101010101" charset="-122"/>
                </a:rPr>
                <a:t>02</a:t>
              </a:r>
              <a:endParaRPr lang="en-US" altLang="zh-CN" sz="3200">
                <a:latin typeface="汉仪旗黑-75S" panose="00020600040101010101" charset="-122"/>
                <a:ea typeface="汉仪旗黑-75S" panose="00020600040101010101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527" y="2000"/>
              <a:ext cx="393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800">
                  <a:gradFill>
                    <a:gsLst>
                      <a:gs pos="0">
                        <a:srgbClr val="50AD1D"/>
                      </a:gs>
                      <a:gs pos="100000">
                        <a:srgbClr val="224B0C"/>
                      </a:gs>
                    </a:gsLst>
                    <a:lin ang="5400000" scaled="0"/>
                  </a:gradFill>
                  <a:latin typeface="汉仪旗黑-75S" panose="00020600040101010101" charset="-122"/>
                  <a:ea typeface="汉仪旗黑-75S" panose="00020600040101010101" charset="-122"/>
                </a:rPr>
                <a:t>结果与分析</a:t>
              </a:r>
              <a:endParaRPr lang="zh-CN" altLang="en-US" sz="280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339215" y="5174615"/>
            <a:ext cx="4372610" cy="791210"/>
            <a:chOff x="7176" y="1788"/>
            <a:chExt cx="6886" cy="1246"/>
          </a:xfrm>
        </p:grpSpPr>
        <p:sp>
          <p:nvSpPr>
            <p:cNvPr id="23" name="圆角矩形 22"/>
            <p:cNvSpPr/>
            <p:nvPr/>
          </p:nvSpPr>
          <p:spPr>
            <a:xfrm>
              <a:off x="7891" y="1788"/>
              <a:ext cx="6171" cy="124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r="2700000" algn="tl" rotWithShape="0">
                <a:srgbClr val="3A7F1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对角圆角矩形 23"/>
            <p:cNvSpPr/>
            <p:nvPr/>
          </p:nvSpPr>
          <p:spPr>
            <a:xfrm flipH="1">
              <a:off x="7176" y="1788"/>
              <a:ext cx="2191" cy="1246"/>
            </a:xfrm>
            <a:prstGeom prst="round2DiagRect">
              <a:avLst>
                <a:gd name="adj1" fmla="val 39329"/>
                <a:gd name="adj2" fmla="val 0"/>
              </a:avLst>
            </a:prstGeom>
            <a:gradFill>
              <a:gsLst>
                <a:gs pos="0">
                  <a:srgbClr val="36AE02"/>
                </a:gs>
                <a:gs pos="100000">
                  <a:srgbClr val="224B0C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3200">
                  <a:latin typeface="汉仪旗黑-75S" panose="00020600040101010101" charset="-122"/>
                  <a:ea typeface="汉仪旗黑-75S" panose="00020600040101010101" charset="-122"/>
                </a:rPr>
                <a:t>03</a:t>
              </a:r>
              <a:endParaRPr lang="en-US" altLang="zh-CN" sz="3200">
                <a:latin typeface="汉仪旗黑-75S" panose="00020600040101010101" charset="-122"/>
                <a:ea typeface="汉仪旗黑-75S" panose="00020600040101010101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749" y="2000"/>
              <a:ext cx="393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800">
                  <a:gradFill>
                    <a:gsLst>
                      <a:gs pos="0">
                        <a:srgbClr val="50AD1D"/>
                      </a:gs>
                      <a:gs pos="100000">
                        <a:srgbClr val="224B0C"/>
                      </a:gs>
                    </a:gsLst>
                    <a:lin ang="5400000" scaled="0"/>
                  </a:gradFill>
                  <a:latin typeface="汉仪旗黑-75S" panose="00020600040101010101" charset="-122"/>
                  <a:ea typeface="汉仪旗黑-75S" panose="00020600040101010101" charset="-122"/>
                </a:rPr>
                <a:t>讨论</a:t>
              </a:r>
              <a:endParaRPr lang="zh-CN" altLang="en-US" sz="280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6507480" y="5174615"/>
            <a:ext cx="4372610" cy="791210"/>
            <a:chOff x="7176" y="1788"/>
            <a:chExt cx="6886" cy="1246"/>
          </a:xfrm>
        </p:grpSpPr>
        <p:sp>
          <p:nvSpPr>
            <p:cNvPr id="27" name="圆角矩形 26"/>
            <p:cNvSpPr/>
            <p:nvPr/>
          </p:nvSpPr>
          <p:spPr>
            <a:xfrm>
              <a:off x="7891" y="1788"/>
              <a:ext cx="6171" cy="124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r="2700000" algn="tl" rotWithShape="0">
                <a:srgbClr val="3A7F1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对角圆角矩形 27"/>
            <p:cNvSpPr/>
            <p:nvPr/>
          </p:nvSpPr>
          <p:spPr>
            <a:xfrm flipH="1">
              <a:off x="7176" y="1788"/>
              <a:ext cx="2191" cy="1246"/>
            </a:xfrm>
            <a:prstGeom prst="round2DiagRect">
              <a:avLst>
                <a:gd name="adj1" fmla="val 39329"/>
                <a:gd name="adj2" fmla="val 0"/>
              </a:avLst>
            </a:prstGeom>
            <a:gradFill>
              <a:gsLst>
                <a:gs pos="0">
                  <a:srgbClr val="36AE02"/>
                </a:gs>
                <a:gs pos="100000">
                  <a:srgbClr val="224B0C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3200">
                  <a:latin typeface="汉仪旗黑-75S" panose="00020600040101010101" charset="-122"/>
                  <a:ea typeface="汉仪旗黑-75S" panose="00020600040101010101" charset="-122"/>
                </a:rPr>
                <a:t>04</a:t>
              </a:r>
              <a:endParaRPr lang="en-US" altLang="zh-CN" sz="3200">
                <a:latin typeface="汉仪旗黑-75S" panose="00020600040101010101" charset="-122"/>
                <a:ea typeface="汉仪旗黑-75S" panose="00020600040101010101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9749" y="2000"/>
              <a:ext cx="393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800">
                  <a:gradFill>
                    <a:gsLst>
                      <a:gs pos="0">
                        <a:srgbClr val="50AD1D"/>
                      </a:gs>
                      <a:gs pos="100000">
                        <a:srgbClr val="224B0C"/>
                      </a:gs>
                    </a:gsLst>
                    <a:lin ang="5400000" scaled="0"/>
                  </a:gradFill>
                  <a:latin typeface="汉仪旗黑-75S" panose="00020600040101010101" charset="-122"/>
                  <a:ea typeface="汉仪旗黑-75S" panose="00020600040101010101" charset="-122"/>
                </a:rPr>
                <a:t>结论</a:t>
              </a:r>
              <a:endParaRPr lang="zh-CN" altLang="en-US" sz="280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4097655" y="400050"/>
            <a:ext cx="7474585" cy="1198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r>
              <a:rPr lang="en-US" altLang="zh-CN" sz="7200" cap="all">
                <a:ln>
                  <a:gradFill>
                    <a:gsLst>
                      <a:gs pos="0">
                        <a:srgbClr val="36AE02">
                          <a:alpha val="43000"/>
                        </a:srgbClr>
                      </a:gs>
                      <a:gs pos="100000">
                        <a:srgbClr val="3A7F15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uFillTx/>
                <a:latin typeface="汉仪旗黑-75S" panose="00020600040101010101" charset="-122"/>
                <a:ea typeface="汉仪旗黑-75S" panose="00020600040101010101" charset="-122"/>
              </a:rPr>
              <a:t>contents</a:t>
            </a:r>
            <a:endParaRPr lang="en-US" altLang="zh-CN" sz="7200" cap="all">
              <a:ln>
                <a:gradFill>
                  <a:gsLst>
                    <a:gs pos="0">
                      <a:srgbClr val="36AE02">
                        <a:alpha val="43000"/>
                      </a:srgbClr>
                    </a:gs>
                    <a:gs pos="100000">
                      <a:srgbClr val="3A7F15">
                        <a:alpha val="0"/>
                      </a:srgbClr>
                    </a:gs>
                  </a:gsLst>
                  <a:lin ang="5400000" scaled="1"/>
                </a:gradFill>
              </a:ln>
              <a:noFill/>
              <a:uFillTx/>
              <a:latin typeface="汉仪旗黑-75S" panose="00020600040101010101" charset="-122"/>
              <a:ea typeface="汉仪旗黑-75S" panose="00020600040101010101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152525" y="400050"/>
            <a:ext cx="3113405" cy="1198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720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  <a:sym typeface="+mn-ea"/>
              </a:rPr>
              <a:t>目</a:t>
            </a:r>
            <a:r>
              <a:rPr lang="en-US" altLang="zh-CN" sz="720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  <a:sym typeface="+mn-ea"/>
              </a:rPr>
              <a:t> </a:t>
            </a:r>
            <a:r>
              <a:rPr lang="zh-CN" altLang="en-US" sz="720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  <a:sym typeface="+mn-ea"/>
              </a:rPr>
              <a:t>录</a:t>
            </a:r>
            <a:endParaRPr lang="zh-CN" altLang="en-US" sz="720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75S" panose="00020600040101010101" charset="-122"/>
              <a:ea typeface="汉仪旗黑-75S" panose="00020600040101010101" charset="-122"/>
              <a:sym typeface="+mn-ea"/>
            </a:endParaRPr>
          </a:p>
        </p:txBody>
      </p:sp>
      <p:sp>
        <p:nvSpPr>
          <p:cNvPr id="39" name="任意形状 12"/>
          <p:cNvSpPr/>
          <p:nvPr>
            <p:custDataLst>
              <p:tags r:id="rId2"/>
            </p:custDataLst>
          </p:nvPr>
        </p:nvSpPr>
        <p:spPr>
          <a:xfrm>
            <a:off x="0" y="6464698"/>
            <a:ext cx="12192000" cy="393302"/>
          </a:xfrm>
          <a:custGeom>
            <a:avLst/>
            <a:gdLst>
              <a:gd name="connsiteX0" fmla="*/ 12192000 w 12192000"/>
              <a:gd name="connsiteY0" fmla="*/ 0 h 909447"/>
              <a:gd name="connsiteX1" fmla="*/ 12192000 w 12192000"/>
              <a:gd name="connsiteY1" fmla="*/ 909447 h 909447"/>
              <a:gd name="connsiteX2" fmla="*/ 0 w 12192000"/>
              <a:gd name="connsiteY2" fmla="*/ 909447 h 909447"/>
              <a:gd name="connsiteX3" fmla="*/ 0 w 12192000"/>
              <a:gd name="connsiteY3" fmla="*/ 401788 h 909447"/>
              <a:gd name="connsiteX4" fmla="*/ 271475 w 12192000"/>
              <a:gd name="connsiteY4" fmla="*/ 389839 h 909447"/>
              <a:gd name="connsiteX5" fmla="*/ 8190271 w 12192000"/>
              <a:gd name="connsiteY5" fmla="*/ 639060 h 909447"/>
              <a:gd name="connsiteX6" fmla="*/ 12049480 w 12192000"/>
              <a:gd name="connsiteY6" fmla="*/ 34242 h 909447"/>
              <a:gd name="connsiteX0-1" fmla="*/ 12192000 w 12192000"/>
              <a:gd name="connsiteY0-2" fmla="*/ 0 h 909447"/>
              <a:gd name="connsiteX1-3" fmla="*/ 12192000 w 12192000"/>
              <a:gd name="connsiteY1-4" fmla="*/ 909447 h 909447"/>
              <a:gd name="connsiteX2-5" fmla="*/ 0 w 12192000"/>
              <a:gd name="connsiteY2-6" fmla="*/ 909447 h 909447"/>
              <a:gd name="connsiteX3-7" fmla="*/ 0 w 12192000"/>
              <a:gd name="connsiteY3-8" fmla="*/ 401788 h 909447"/>
              <a:gd name="connsiteX4-9" fmla="*/ 8190271 w 12192000"/>
              <a:gd name="connsiteY4-10" fmla="*/ 639060 h 909447"/>
              <a:gd name="connsiteX5-11" fmla="*/ 12049480 w 12192000"/>
              <a:gd name="connsiteY5-12" fmla="*/ 34242 h 909447"/>
              <a:gd name="connsiteX6-13" fmla="*/ 12192000 w 12192000"/>
              <a:gd name="connsiteY6-14" fmla="*/ 0 h 909447"/>
              <a:gd name="connsiteX0-15" fmla="*/ 12192000 w 12192000"/>
              <a:gd name="connsiteY0-16" fmla="*/ 0 h 909447"/>
              <a:gd name="connsiteX1-17" fmla="*/ 12192000 w 12192000"/>
              <a:gd name="connsiteY1-18" fmla="*/ 909447 h 909447"/>
              <a:gd name="connsiteX2-19" fmla="*/ 0 w 12192000"/>
              <a:gd name="connsiteY2-20" fmla="*/ 909447 h 909447"/>
              <a:gd name="connsiteX3-21" fmla="*/ 0 w 12192000"/>
              <a:gd name="connsiteY3-22" fmla="*/ 401788 h 909447"/>
              <a:gd name="connsiteX4-23" fmla="*/ 12049480 w 12192000"/>
              <a:gd name="connsiteY4-24" fmla="*/ 34242 h 909447"/>
              <a:gd name="connsiteX5-25" fmla="*/ 12192000 w 12192000"/>
              <a:gd name="connsiteY5-26" fmla="*/ 0 h 909447"/>
              <a:gd name="connsiteX0-27" fmla="*/ 12192000 w 12192000"/>
              <a:gd name="connsiteY0-28" fmla="*/ 0 h 909447"/>
              <a:gd name="connsiteX1-29" fmla="*/ 12192000 w 12192000"/>
              <a:gd name="connsiteY1-30" fmla="*/ 909447 h 909447"/>
              <a:gd name="connsiteX2-31" fmla="*/ 0 w 12192000"/>
              <a:gd name="connsiteY2-32" fmla="*/ 909447 h 909447"/>
              <a:gd name="connsiteX3-33" fmla="*/ 0 w 12192000"/>
              <a:gd name="connsiteY3-34" fmla="*/ 401788 h 909447"/>
              <a:gd name="connsiteX4-35" fmla="*/ 12192000 w 12192000"/>
              <a:gd name="connsiteY4-36" fmla="*/ 0 h 909447"/>
              <a:gd name="connsiteX0-37" fmla="*/ 12192000 w 12192000"/>
              <a:gd name="connsiteY0-38" fmla="*/ 0 h 909447"/>
              <a:gd name="connsiteX1-39" fmla="*/ 12192000 w 12192000"/>
              <a:gd name="connsiteY1-40" fmla="*/ 909447 h 909447"/>
              <a:gd name="connsiteX2-41" fmla="*/ 0 w 12192000"/>
              <a:gd name="connsiteY2-42" fmla="*/ 909447 h 909447"/>
              <a:gd name="connsiteX3-43" fmla="*/ 0 w 12192000"/>
              <a:gd name="connsiteY3-44" fmla="*/ 401788 h 909447"/>
              <a:gd name="connsiteX4-45" fmla="*/ 12192000 w 12192000"/>
              <a:gd name="connsiteY4-46" fmla="*/ 0 h 909447"/>
              <a:gd name="connsiteX0-47" fmla="*/ 12192000 w 12192000"/>
              <a:gd name="connsiteY0-48" fmla="*/ 0 h 909447"/>
              <a:gd name="connsiteX1-49" fmla="*/ 12192000 w 12192000"/>
              <a:gd name="connsiteY1-50" fmla="*/ 909447 h 909447"/>
              <a:gd name="connsiteX2-51" fmla="*/ 0 w 12192000"/>
              <a:gd name="connsiteY2-52" fmla="*/ 909447 h 909447"/>
              <a:gd name="connsiteX3-53" fmla="*/ 0 w 12192000"/>
              <a:gd name="connsiteY3-54" fmla="*/ 401788 h 909447"/>
              <a:gd name="connsiteX4-55" fmla="*/ 12192000 w 12192000"/>
              <a:gd name="connsiteY4-56" fmla="*/ 0 h 9094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909447">
                <a:moveTo>
                  <a:pt x="12192000" y="0"/>
                </a:moveTo>
                <a:lnTo>
                  <a:pt x="12192000" y="909447"/>
                </a:lnTo>
                <a:lnTo>
                  <a:pt x="0" y="909447"/>
                </a:lnTo>
                <a:lnTo>
                  <a:pt x="0" y="401788"/>
                </a:lnTo>
                <a:cubicBezTo>
                  <a:pt x="2540000" y="700478"/>
                  <a:pt x="6289368" y="812355"/>
                  <a:pt x="12192000" y="0"/>
                </a:cubicBezTo>
                <a:close/>
              </a:path>
            </a:pathLst>
          </a:cu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ECF3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352418" y="299740"/>
            <a:ext cx="99695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前言</a:t>
            </a:r>
            <a:endParaRPr kumimoji="1" lang="zh-CN" altLang="en-US" sz="3200" b="1" dirty="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50简" panose="00020600040101010101" charset="-122"/>
              <a:ea typeface="汉仪旗黑-50简" panose="00020600040101010101" charset="-122"/>
            </a:endParaRPr>
          </a:p>
        </p:txBody>
      </p:sp>
      <p:sp>
        <p:nvSpPr>
          <p:cNvPr id="7" name="任意形状 12"/>
          <p:cNvSpPr/>
          <p:nvPr>
            <p:custDataLst>
              <p:tags r:id="rId2"/>
            </p:custDataLst>
          </p:nvPr>
        </p:nvSpPr>
        <p:spPr>
          <a:xfrm>
            <a:off x="0" y="6464698"/>
            <a:ext cx="12192000" cy="393302"/>
          </a:xfrm>
          <a:custGeom>
            <a:avLst/>
            <a:gdLst>
              <a:gd name="connsiteX0" fmla="*/ 12192000 w 12192000"/>
              <a:gd name="connsiteY0" fmla="*/ 0 h 909447"/>
              <a:gd name="connsiteX1" fmla="*/ 12192000 w 12192000"/>
              <a:gd name="connsiteY1" fmla="*/ 909447 h 909447"/>
              <a:gd name="connsiteX2" fmla="*/ 0 w 12192000"/>
              <a:gd name="connsiteY2" fmla="*/ 909447 h 909447"/>
              <a:gd name="connsiteX3" fmla="*/ 0 w 12192000"/>
              <a:gd name="connsiteY3" fmla="*/ 401788 h 909447"/>
              <a:gd name="connsiteX4" fmla="*/ 271475 w 12192000"/>
              <a:gd name="connsiteY4" fmla="*/ 389839 h 909447"/>
              <a:gd name="connsiteX5" fmla="*/ 8190271 w 12192000"/>
              <a:gd name="connsiteY5" fmla="*/ 639060 h 909447"/>
              <a:gd name="connsiteX6" fmla="*/ 12049480 w 12192000"/>
              <a:gd name="connsiteY6" fmla="*/ 34242 h 909447"/>
              <a:gd name="connsiteX0-1" fmla="*/ 12192000 w 12192000"/>
              <a:gd name="connsiteY0-2" fmla="*/ 0 h 909447"/>
              <a:gd name="connsiteX1-3" fmla="*/ 12192000 w 12192000"/>
              <a:gd name="connsiteY1-4" fmla="*/ 909447 h 909447"/>
              <a:gd name="connsiteX2-5" fmla="*/ 0 w 12192000"/>
              <a:gd name="connsiteY2-6" fmla="*/ 909447 h 909447"/>
              <a:gd name="connsiteX3-7" fmla="*/ 0 w 12192000"/>
              <a:gd name="connsiteY3-8" fmla="*/ 401788 h 909447"/>
              <a:gd name="connsiteX4-9" fmla="*/ 8190271 w 12192000"/>
              <a:gd name="connsiteY4-10" fmla="*/ 639060 h 909447"/>
              <a:gd name="connsiteX5-11" fmla="*/ 12049480 w 12192000"/>
              <a:gd name="connsiteY5-12" fmla="*/ 34242 h 909447"/>
              <a:gd name="connsiteX6-13" fmla="*/ 12192000 w 12192000"/>
              <a:gd name="connsiteY6-14" fmla="*/ 0 h 909447"/>
              <a:gd name="connsiteX0-15" fmla="*/ 12192000 w 12192000"/>
              <a:gd name="connsiteY0-16" fmla="*/ 0 h 909447"/>
              <a:gd name="connsiteX1-17" fmla="*/ 12192000 w 12192000"/>
              <a:gd name="connsiteY1-18" fmla="*/ 909447 h 909447"/>
              <a:gd name="connsiteX2-19" fmla="*/ 0 w 12192000"/>
              <a:gd name="connsiteY2-20" fmla="*/ 909447 h 909447"/>
              <a:gd name="connsiteX3-21" fmla="*/ 0 w 12192000"/>
              <a:gd name="connsiteY3-22" fmla="*/ 401788 h 909447"/>
              <a:gd name="connsiteX4-23" fmla="*/ 12049480 w 12192000"/>
              <a:gd name="connsiteY4-24" fmla="*/ 34242 h 909447"/>
              <a:gd name="connsiteX5-25" fmla="*/ 12192000 w 12192000"/>
              <a:gd name="connsiteY5-26" fmla="*/ 0 h 909447"/>
              <a:gd name="connsiteX0-27" fmla="*/ 12192000 w 12192000"/>
              <a:gd name="connsiteY0-28" fmla="*/ 0 h 909447"/>
              <a:gd name="connsiteX1-29" fmla="*/ 12192000 w 12192000"/>
              <a:gd name="connsiteY1-30" fmla="*/ 909447 h 909447"/>
              <a:gd name="connsiteX2-31" fmla="*/ 0 w 12192000"/>
              <a:gd name="connsiteY2-32" fmla="*/ 909447 h 909447"/>
              <a:gd name="connsiteX3-33" fmla="*/ 0 w 12192000"/>
              <a:gd name="connsiteY3-34" fmla="*/ 401788 h 909447"/>
              <a:gd name="connsiteX4-35" fmla="*/ 12192000 w 12192000"/>
              <a:gd name="connsiteY4-36" fmla="*/ 0 h 909447"/>
              <a:gd name="connsiteX0-37" fmla="*/ 12192000 w 12192000"/>
              <a:gd name="connsiteY0-38" fmla="*/ 0 h 909447"/>
              <a:gd name="connsiteX1-39" fmla="*/ 12192000 w 12192000"/>
              <a:gd name="connsiteY1-40" fmla="*/ 909447 h 909447"/>
              <a:gd name="connsiteX2-41" fmla="*/ 0 w 12192000"/>
              <a:gd name="connsiteY2-42" fmla="*/ 909447 h 909447"/>
              <a:gd name="connsiteX3-43" fmla="*/ 0 w 12192000"/>
              <a:gd name="connsiteY3-44" fmla="*/ 401788 h 909447"/>
              <a:gd name="connsiteX4-45" fmla="*/ 12192000 w 12192000"/>
              <a:gd name="connsiteY4-46" fmla="*/ 0 h 909447"/>
              <a:gd name="connsiteX0-47" fmla="*/ 12192000 w 12192000"/>
              <a:gd name="connsiteY0-48" fmla="*/ 0 h 909447"/>
              <a:gd name="connsiteX1-49" fmla="*/ 12192000 w 12192000"/>
              <a:gd name="connsiteY1-50" fmla="*/ 909447 h 909447"/>
              <a:gd name="connsiteX2-51" fmla="*/ 0 w 12192000"/>
              <a:gd name="connsiteY2-52" fmla="*/ 909447 h 909447"/>
              <a:gd name="connsiteX3-53" fmla="*/ 0 w 12192000"/>
              <a:gd name="connsiteY3-54" fmla="*/ 401788 h 909447"/>
              <a:gd name="connsiteX4-55" fmla="*/ 12192000 w 12192000"/>
              <a:gd name="connsiteY4-56" fmla="*/ 0 h 9094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909447">
                <a:moveTo>
                  <a:pt x="12192000" y="0"/>
                </a:moveTo>
                <a:lnTo>
                  <a:pt x="12192000" y="909447"/>
                </a:lnTo>
                <a:lnTo>
                  <a:pt x="0" y="909447"/>
                </a:lnTo>
                <a:lnTo>
                  <a:pt x="0" y="401788"/>
                </a:lnTo>
                <a:cubicBezTo>
                  <a:pt x="2540000" y="700478"/>
                  <a:pt x="6289368" y="812355"/>
                  <a:pt x="12192000" y="0"/>
                </a:cubicBezTo>
                <a:close/>
              </a:path>
            </a:pathLst>
          </a:cu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347472" y="329184"/>
            <a:ext cx="493776" cy="493776"/>
          </a:xfrm>
          <a:prstGeom prst="ellipse">
            <a:avLst/>
          </a:pr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676656" y="329184"/>
            <a:ext cx="493776" cy="493776"/>
          </a:xfrm>
          <a:prstGeom prst="ellipse">
            <a:avLst/>
          </a:prstGeom>
          <a:solidFill>
            <a:srgbClr val="36AE02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cxnSp>
        <p:nvCxnSpPr>
          <p:cNvPr id="12" name="直线连接符 11"/>
          <p:cNvCxnSpPr/>
          <p:nvPr>
            <p:custDataLst>
              <p:tags r:id="rId5"/>
            </p:custDataLst>
          </p:nvPr>
        </p:nvCxnSpPr>
        <p:spPr>
          <a:xfrm>
            <a:off x="0" y="989452"/>
            <a:ext cx="12192000" cy="0"/>
          </a:xfrm>
          <a:prstGeom prst="line">
            <a:avLst/>
          </a:prstGeom>
          <a:ln w="25400">
            <a:solidFill>
              <a:srgbClr val="3A7F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599213" y="1377457"/>
            <a:ext cx="3852772" cy="4780236"/>
            <a:chOff x="1277" y="2777"/>
            <a:chExt cx="5261" cy="6527"/>
          </a:xfrm>
        </p:grpSpPr>
        <p:sp>
          <p:nvSpPr>
            <p:cNvPr id="4" name="圆角矩形 3"/>
            <p:cNvSpPr/>
            <p:nvPr/>
          </p:nvSpPr>
          <p:spPr>
            <a:xfrm>
              <a:off x="1510" y="3387"/>
              <a:ext cx="5028" cy="5917"/>
            </a:xfrm>
            <a:prstGeom prst="roundRect">
              <a:avLst>
                <a:gd name="adj" fmla="val 5150"/>
              </a:avLst>
            </a:prstGeom>
            <a:solidFill>
              <a:srgbClr val="3A7E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圆角矩形 1"/>
            <p:cNvSpPr/>
            <p:nvPr/>
          </p:nvSpPr>
          <p:spPr>
            <a:xfrm>
              <a:off x="1277" y="2777"/>
              <a:ext cx="5028" cy="6527"/>
            </a:xfrm>
            <a:prstGeom prst="roundRect">
              <a:avLst>
                <a:gd name="adj" fmla="val 5173"/>
              </a:avLst>
            </a:prstGeom>
            <a:blipFill rotWithShape="1"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圆角矩形 10"/>
          <p:cNvSpPr/>
          <p:nvPr>
            <p:custDataLst>
              <p:tags r:id="rId7"/>
            </p:custDataLst>
          </p:nvPr>
        </p:nvSpPr>
        <p:spPr>
          <a:xfrm>
            <a:off x="4058920" y="2087245"/>
            <a:ext cx="7248525" cy="3562985"/>
          </a:xfrm>
          <a:prstGeom prst="roundRect">
            <a:avLst>
              <a:gd name="adj" fmla="val 8101"/>
            </a:avLst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36AE02"/>
                </a:gs>
                <a:gs pos="83000">
                  <a:srgbClr val="76BC3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609600" dist="228600" dir="2700000" algn="tl" rotWithShape="0">
              <a:srgbClr val="3A7F1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4451350" y="2475230"/>
            <a:ext cx="6550660" cy="25844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  <a:sym typeface="+mn-ea"/>
              </a:rPr>
              <a:t>肉鸡养殖中，生长后期的生产性能至关重要，而传统饲料中抗生素的过度使用引发诸多问题，寻找替代品成为热点。短链脂肪酸中的丁酸钠备受关注，它能分解为丁酸，为肠上皮细胞供能，促进绒毛发育、增强屏障功能、调节肠道菌群等。国内外研究表明，丁酸钠可改善肉鸡生长性能、肠道健康等。本研究旨在评估其在肉鸡日粮中的应用效果，探究对生长后期生长性能、血清生化指标及肠道形态的影响，揭示作用通路，为优化营养策略提供依据，验证其作为抗生素替代品的潜力，推动绿色养殖及乡村振兴。</a:t>
            </a:r>
            <a:endParaRPr dirty="0"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  <a:sym typeface="+mn-ea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9"/>
            </p:custDataLst>
          </p:nvPr>
        </p:nvCxnSpPr>
        <p:spPr>
          <a:xfrm>
            <a:off x="4867910" y="5290820"/>
            <a:ext cx="5629910" cy="0"/>
          </a:xfrm>
          <a:prstGeom prst="line">
            <a:avLst/>
          </a:prstGeom>
          <a:ln>
            <a:solidFill>
              <a:srgbClr val="3A7F1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>
            <a:off x="0" y="0"/>
            <a:ext cx="513524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87" h="10800">
                <a:moveTo>
                  <a:pt x="0" y="0"/>
                </a:moveTo>
                <a:lnTo>
                  <a:pt x="7089" y="0"/>
                </a:lnTo>
                <a:lnTo>
                  <a:pt x="7124" y="66"/>
                </a:lnTo>
                <a:cubicBezTo>
                  <a:pt x="7739" y="1232"/>
                  <a:pt x="8087" y="2560"/>
                  <a:pt x="8087" y="3969"/>
                </a:cubicBezTo>
                <a:cubicBezTo>
                  <a:pt x="8087" y="6788"/>
                  <a:pt x="6695" y="9281"/>
                  <a:pt x="4560" y="10799"/>
                </a:cubicBezTo>
                <a:lnTo>
                  <a:pt x="4559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269990" y="2455545"/>
            <a:ext cx="50438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720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  <a:sym typeface="+mn-ea"/>
              </a:rPr>
              <a:t>材料与方法</a:t>
            </a:r>
            <a:endParaRPr lang="zh-CN" altLang="en-US" sz="720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75S" panose="00020600040101010101" charset="-122"/>
              <a:ea typeface="汉仪旗黑-75S" panose="0002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71245" y="801370"/>
            <a:ext cx="4064000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60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</a:rPr>
              <a:t>01</a:t>
            </a:r>
            <a:endParaRPr lang="en-US" altLang="zh-CN" sz="1660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75S" panose="00020600040101010101" charset="-122"/>
              <a:ea typeface="汉仪旗黑-75S" panose="00020600040101010101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523865" y="4830445"/>
            <a:ext cx="5629910" cy="0"/>
          </a:xfrm>
          <a:prstGeom prst="line">
            <a:avLst/>
          </a:prstGeom>
          <a:ln>
            <a:solidFill>
              <a:srgbClr val="3A7F1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>
            <p:custDataLst>
              <p:tags r:id="rId4"/>
            </p:custDataLst>
          </p:nvPr>
        </p:nvSpPr>
        <p:spPr>
          <a:xfrm>
            <a:off x="8382000" y="1031240"/>
            <a:ext cx="2740025" cy="61722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6AE02"/>
              </a:gs>
              <a:gs pos="100000">
                <a:srgbClr val="224B0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5"/>
            </p:custDataLst>
          </p:nvPr>
        </p:nvSpPr>
        <p:spPr>
          <a:xfrm>
            <a:off x="8696325" y="1075690"/>
            <a:ext cx="21831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3200">
                <a:solidFill>
                  <a:schemeClr val="bg1"/>
                </a:solidFill>
                <a:latin typeface="汉仪旗黑-75S" panose="00020600040101010101" charset="-122"/>
                <a:ea typeface="汉仪旗黑-75S" panose="00020600040101010101" charset="-122"/>
                <a:cs typeface="汉仪旗黑-75S" panose="00020600040101010101" charset="-122"/>
              </a:rPr>
              <a:t>第一部分</a:t>
            </a:r>
            <a:endParaRPr lang="zh-CN" altLang="en-US" sz="3200">
              <a:solidFill>
                <a:schemeClr val="bg1"/>
              </a:solidFill>
              <a:latin typeface="汉仪旗黑-75S" panose="00020600040101010101" charset="-122"/>
              <a:ea typeface="汉仪旗黑-75S" panose="00020600040101010101" charset="-122"/>
              <a:cs typeface="汉仪旗黑-75S" panose="00020600040101010101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5398003" y="5010805"/>
            <a:ext cx="23971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1.</a:t>
            </a:r>
            <a:r>
              <a:rPr kumimoji="1" lang="en-US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2</a:t>
            </a:r>
            <a:r>
              <a:rPr kumimoji="1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试验</a:t>
            </a:r>
            <a:r>
              <a:rPr kumimoji="1" lang="zh-CN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设计</a:t>
            </a:r>
            <a:endParaRPr kumimoji="1" lang="zh-CN" sz="3200" b="1" dirty="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50简" panose="00020600040101010101" charset="-122"/>
              <a:ea typeface="汉仪旗黑-50简" panose="0002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60365" y="5594350"/>
            <a:ext cx="6109335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25000"/>
              </a:lnSpc>
              <a:spcAft>
                <a:spcPct val="0"/>
              </a:spcAft>
            </a:pPr>
            <a:r>
              <a:rPr lang="zh-CN" altLang="en-US" sz="1600">
                <a:latin typeface="Times New Roman" panose="02020503050405090304"/>
                <a:ea typeface="宋体"/>
              </a:rPr>
              <a:t>本试验的</a:t>
            </a:r>
            <a:r>
              <a:rPr lang="zh-CN" altLang="en-US" sz="1600">
                <a:latin typeface="宋体"/>
                <a:ea typeface="宋体"/>
              </a:rPr>
              <a:t>丁酸钠</a:t>
            </a:r>
            <a:r>
              <a:rPr lang="zh-CN" altLang="en-US" sz="1600">
                <a:latin typeface="Times New Roman" panose="02020503050405090304"/>
                <a:ea typeface="宋体"/>
              </a:rPr>
              <a:t>由广州康本生物科技有限公司提供</a:t>
            </a:r>
            <a:r>
              <a:rPr lang="zh-CN" altLang="en-US" sz="1600">
                <a:latin typeface="宋体"/>
                <a:ea typeface="宋体"/>
              </a:rPr>
              <a:t>，</a:t>
            </a:r>
            <a:r>
              <a:rPr lang="zh-CN" altLang="en-US" sz="1600">
                <a:latin typeface="Times New Roman" panose="02020503050405090304"/>
                <a:ea typeface="宋体"/>
              </a:rPr>
              <a:t>本试验的基础日粮由抚顺市凯顺饲料厂提供</a:t>
            </a:r>
            <a:r>
              <a:rPr lang="zh-CN" altLang="en-US" sz="1600">
                <a:latin typeface="宋体"/>
                <a:ea typeface="宋体"/>
              </a:rPr>
              <a:t>，</a:t>
            </a:r>
            <a:r>
              <a:rPr lang="zh-CN" altLang="en-US" sz="1600">
                <a:latin typeface="Times New Roman" panose="02020503050405090304"/>
                <a:ea typeface="宋体"/>
              </a:rPr>
              <a:t>试验鸡只由抚顺市顺城区兴盛养殖场提供</a:t>
            </a:r>
            <a:r>
              <a:rPr lang="zh-CN" altLang="en-US" sz="1600">
                <a:latin typeface="宋体"/>
                <a:ea typeface="宋体"/>
              </a:rPr>
              <a:t>，</a:t>
            </a:r>
            <a:r>
              <a:rPr lang="zh-CN" altLang="en-US" sz="1600">
                <a:latin typeface="Times New Roman" panose="02020503050405090304"/>
                <a:ea typeface="宋体"/>
              </a:rPr>
              <a:t>试验场地在抚顺市顺城区兴盛养殖场试验基地</a:t>
            </a:r>
            <a:r>
              <a:rPr lang="zh-CN" altLang="en-US" sz="1600">
                <a:latin typeface="宋体"/>
                <a:ea typeface="宋体"/>
              </a:rPr>
              <a:t>。</a:t>
            </a:r>
            <a:endParaRPr lang="zh-CN" altLang="en-US" sz="1600">
              <a:latin typeface="宋体"/>
              <a:ea typeface="宋体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ECF3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352418" y="299740"/>
            <a:ext cx="23971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1.</a:t>
            </a:r>
            <a:r>
              <a:rPr kumimoji="1" lang="en-US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2</a:t>
            </a:r>
            <a:r>
              <a:rPr kumimoji="1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试验</a:t>
            </a:r>
            <a:r>
              <a:rPr kumimoji="1" lang="zh-CN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设计</a:t>
            </a:r>
            <a:endParaRPr kumimoji="1" lang="zh-CN" sz="3200" b="1" dirty="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50简" panose="00020600040101010101" charset="-122"/>
              <a:ea typeface="汉仪旗黑-50简" panose="00020600040101010101" charset="-122"/>
            </a:endParaRPr>
          </a:p>
        </p:txBody>
      </p:sp>
      <p:sp>
        <p:nvSpPr>
          <p:cNvPr id="8" name="椭圆 7"/>
          <p:cNvSpPr/>
          <p:nvPr>
            <p:custDataLst>
              <p:tags r:id="rId2"/>
            </p:custDataLst>
          </p:nvPr>
        </p:nvSpPr>
        <p:spPr>
          <a:xfrm>
            <a:off x="347472" y="329184"/>
            <a:ext cx="493776" cy="493776"/>
          </a:xfrm>
          <a:prstGeom prst="ellipse">
            <a:avLst/>
          </a:pr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0" name="椭圆 9"/>
          <p:cNvSpPr/>
          <p:nvPr>
            <p:custDataLst>
              <p:tags r:id="rId3"/>
            </p:custDataLst>
          </p:nvPr>
        </p:nvSpPr>
        <p:spPr>
          <a:xfrm>
            <a:off x="676656" y="329184"/>
            <a:ext cx="493776" cy="493776"/>
          </a:xfrm>
          <a:prstGeom prst="ellipse">
            <a:avLst/>
          </a:prstGeom>
          <a:solidFill>
            <a:srgbClr val="36AE02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cxnSp>
        <p:nvCxnSpPr>
          <p:cNvPr id="12" name="直线连接符 11"/>
          <p:cNvCxnSpPr/>
          <p:nvPr>
            <p:custDataLst>
              <p:tags r:id="rId4"/>
            </p:custDataLst>
          </p:nvPr>
        </p:nvCxnSpPr>
        <p:spPr>
          <a:xfrm>
            <a:off x="0" y="989452"/>
            <a:ext cx="12192000" cy="0"/>
          </a:xfrm>
          <a:prstGeom prst="line">
            <a:avLst/>
          </a:prstGeom>
          <a:ln w="25400">
            <a:solidFill>
              <a:srgbClr val="3A7F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841375" y="1306195"/>
            <a:ext cx="10326370" cy="1091565"/>
            <a:chOff x="1325" y="2222"/>
            <a:chExt cx="16262" cy="1719"/>
          </a:xfrm>
        </p:grpSpPr>
        <p:sp>
          <p:nvSpPr>
            <p:cNvPr id="76" name="圆角矩形 75"/>
            <p:cNvSpPr/>
            <p:nvPr>
              <p:custDataLst>
                <p:tags r:id="rId5"/>
              </p:custDataLst>
            </p:nvPr>
          </p:nvSpPr>
          <p:spPr>
            <a:xfrm>
              <a:off x="1325" y="2222"/>
              <a:ext cx="16262" cy="171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6AE02"/>
                </a:gs>
                <a:gs pos="100000">
                  <a:srgbClr val="224B0C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>
              <p:custDataLst>
                <p:tags r:id="rId6"/>
              </p:custDataLst>
            </p:nvPr>
          </p:nvSpPr>
          <p:spPr>
            <a:xfrm>
              <a:off x="2130" y="2222"/>
              <a:ext cx="15199" cy="10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dirty="0">
                  <a:solidFill>
                    <a:schemeClr val="bg1"/>
                  </a:solidFill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  <a:sym typeface="+mn-ea"/>
                </a:rPr>
                <a:t>采用随机分组设计，将480只体重接近的21日龄肉鸡分为4组，每组6个重复，每个重复20只（A组饲喂基础日粮，B、C和D组分别在基础日粮中加入0.1%、0.2%和0.3%的丁酸钠）。基础日粮见表1。各组饲养条件、温度湿度、光照等一致，采食自由，预饲期为7天，正饲期为21天。</a:t>
              </a:r>
              <a:endParaRPr sz="1600" dirty="0">
                <a:solidFill>
                  <a:schemeClr val="bg1"/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556000" y="2395220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25000"/>
              </a:lnSpc>
              <a:spcAft>
                <a:spcPct val="0"/>
              </a:spcAft>
            </a:pPr>
            <a:r>
              <a:rPr lang="zh-CN" altLang="en-US" sz="1600">
                <a:latin typeface="Times New Roman" panose="02020503050405090304"/>
                <a:ea typeface="宋体"/>
              </a:rPr>
              <a:t>表</a:t>
            </a:r>
            <a:r>
              <a:rPr lang="en-US" altLang="zh-CN" sz="1600">
                <a:latin typeface="Times New Roman" panose="02020503050405090304"/>
                <a:ea typeface="Times New Roman" panose="02020503050405090304"/>
              </a:rPr>
              <a:t>1</a:t>
            </a:r>
            <a:r>
              <a:rPr lang="zh-CN" altLang="en-US" sz="1600">
                <a:latin typeface="Times New Roman" panose="02020503050405090304"/>
                <a:ea typeface="宋体"/>
              </a:rPr>
              <a:t>基础日粮组成及营养水平</a:t>
            </a:r>
            <a:endParaRPr lang="zh-CN" altLang="en-US" sz="1600">
              <a:latin typeface="Times New Roman" panose="02020503050405090304"/>
              <a:ea typeface="宋体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7"/>
            </p:custDataLst>
          </p:nvPr>
        </p:nvGraphicFramePr>
        <p:xfrm>
          <a:off x="840740" y="2880995"/>
          <a:ext cx="10165080" cy="3305175"/>
        </p:xfrm>
        <a:graphic>
          <a:graphicData uri="http://schemas.openxmlformats.org/drawingml/2006/table">
            <a:tbl>
              <a:tblPr/>
              <a:tblGrid>
                <a:gridCol w="2541270"/>
                <a:gridCol w="2541270"/>
                <a:gridCol w="2541270"/>
                <a:gridCol w="2541270"/>
              </a:tblGrid>
              <a:tr h="220345"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日粮组成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/%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营养水平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/%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0345"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玉米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53.08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代谢能（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MJ/kg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）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13.45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20345"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豆粕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25.00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粗蛋白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20.42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0345"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玉米蛋白粉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5.00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粗脂肪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6.53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0345"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羽毛粉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7.00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总钙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1.15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0345"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豆油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4.50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非植酸磷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0.51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0345"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DL-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蛋氨酸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0.15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蛋氨酸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0.60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0345"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L-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赖氨酸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0.20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蛋氨酸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+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胱氨酸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0.78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0345"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苏氨酸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0.05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赖氨酸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1.15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0345"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色氨酸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0.02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苏氨酸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0.81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0345"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食盐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0.45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色氨酸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0.25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0345"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磷酸氢钙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1.85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0345"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石粉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1.70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0345"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预混料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1.00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0345"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合计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100.00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40740" y="6212840"/>
            <a:ext cx="10786745" cy="610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25000"/>
              </a:lnSpc>
              <a:spcAft>
                <a:spcPct val="0"/>
              </a:spcAft>
            </a:pPr>
            <a:r>
              <a:rPr lang="zh-CN" altLang="en-US" sz="900">
                <a:latin typeface="Times New Roman" panose="02020503050405090304"/>
                <a:ea typeface="宋体"/>
              </a:rPr>
              <a:t>注：预混料为每千克饲粮提供：维生素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A</a:t>
            </a:r>
            <a:r>
              <a:rPr lang="en-US" altLang="zh-CN" sz="900">
                <a:latin typeface="Times New Roman" panose="02020503050405090304"/>
                <a:ea typeface="宋体"/>
              </a:rPr>
              <a:t>     12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500 IU,</a:t>
            </a:r>
            <a:r>
              <a:rPr lang="zh-CN" altLang="en-US" sz="900">
                <a:latin typeface="Times New Roman" panose="02020503050405090304"/>
                <a:ea typeface="宋体"/>
              </a:rPr>
              <a:t>维生素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D</a:t>
            </a:r>
            <a:r>
              <a:rPr lang="en-US" altLang="zh-CN" sz="900" baseline="-25000">
                <a:latin typeface="Times New Roman" panose="02020503050405090304"/>
                <a:ea typeface="宋体"/>
              </a:rPr>
              <a:t>   </a:t>
            </a:r>
            <a:r>
              <a:rPr lang="en-US" altLang="zh-CN" sz="900">
                <a:latin typeface="Times New Roman" panose="02020503050405090304"/>
                <a:ea typeface="宋体"/>
              </a:rPr>
              <a:t>3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4000 IU,</a:t>
            </a:r>
            <a:r>
              <a:rPr lang="zh-CN" altLang="en-US" sz="900">
                <a:latin typeface="Times New Roman" panose="02020503050405090304"/>
                <a:ea typeface="宋体"/>
              </a:rPr>
              <a:t>维生素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E</a:t>
            </a:r>
            <a:r>
              <a:rPr lang="en-US" altLang="zh-CN" sz="900">
                <a:latin typeface="Times New Roman" panose="02020503050405090304"/>
                <a:ea typeface="宋体"/>
              </a:rPr>
              <a:t>    10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IU,</a:t>
            </a:r>
            <a:r>
              <a:rPr lang="zh-CN" altLang="en-US" sz="900">
                <a:latin typeface="Times New Roman" panose="02020503050405090304"/>
                <a:ea typeface="宋体"/>
              </a:rPr>
              <a:t>维生素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K</a:t>
            </a:r>
            <a:r>
              <a:rPr lang="en-US" altLang="zh-CN" sz="900">
                <a:latin typeface="Times New Roman" panose="02020503050405090304"/>
                <a:ea typeface="宋体"/>
              </a:rPr>
              <a:t> 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31.5 mg,</a:t>
            </a:r>
            <a:r>
              <a:rPr lang="zh-CN" altLang="en-US" sz="900">
                <a:latin typeface="Times New Roman" panose="02020503050405090304"/>
                <a:ea typeface="宋体"/>
              </a:rPr>
              <a:t>维生素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B</a:t>
            </a:r>
            <a:r>
              <a:rPr lang="en-US" altLang="zh-CN" sz="900" baseline="-25000">
                <a:latin typeface="Times New Roman" panose="02020503050405090304"/>
                <a:ea typeface="Times New Roman" panose="02020503050405090304"/>
              </a:rPr>
              <a:t>2</a:t>
            </a:r>
            <a:r>
              <a:rPr lang="en-US" altLang="zh-CN" sz="900" baseline="-25000">
                <a:latin typeface="Times New Roman" panose="02020503050405090304"/>
                <a:ea typeface="宋体"/>
              </a:rPr>
              <a:t>   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8 mg,</a:t>
            </a:r>
            <a:r>
              <a:rPr lang="zh-CN" altLang="en-US" sz="900">
                <a:latin typeface="Times New Roman" panose="02020503050405090304"/>
                <a:ea typeface="宋体"/>
              </a:rPr>
              <a:t>维生素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B</a:t>
            </a:r>
            <a:r>
              <a:rPr lang="en-US" altLang="zh-CN" sz="900" baseline="-25000">
                <a:latin typeface="Times New Roman" panose="02020503050405090304"/>
                <a:ea typeface="Times New Roman" panose="02020503050405090304"/>
              </a:rPr>
              <a:t>6</a:t>
            </a:r>
            <a:r>
              <a:rPr lang="en-US" altLang="zh-CN" sz="900" baseline="-25000">
                <a:latin typeface="Times New Roman" panose="02020503050405090304"/>
                <a:ea typeface="宋体"/>
              </a:rPr>
              <a:t>   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8 mg,</a:t>
            </a:r>
            <a:r>
              <a:rPr lang="zh-CN" altLang="en-US" sz="900">
                <a:latin typeface="Times New Roman" panose="02020503050405090304"/>
                <a:ea typeface="宋体"/>
              </a:rPr>
              <a:t>维生素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B</a:t>
            </a:r>
            <a:r>
              <a:rPr lang="en-US" altLang="zh-CN" sz="900" baseline="-25000">
                <a:latin typeface="Times New Roman" panose="02020503050405090304"/>
                <a:ea typeface="Times New Roman" panose="02020503050405090304"/>
              </a:rPr>
              <a:t>12</a:t>
            </a:r>
            <a:r>
              <a:rPr lang="en-US" altLang="zh-CN" sz="900" baseline="-25000">
                <a:latin typeface="Times New Roman" panose="02020503050405090304"/>
                <a:ea typeface="宋体"/>
              </a:rPr>
              <a:t>     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0.015 mg</a:t>
            </a:r>
            <a:r>
              <a:rPr lang="zh-CN" altLang="en-US" sz="900">
                <a:latin typeface="Times New Roman" panose="02020503050405090304"/>
                <a:ea typeface="宋体"/>
              </a:rPr>
              <a:t>，烟酸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50 mg</a:t>
            </a:r>
            <a:r>
              <a:rPr lang="zh-CN" altLang="en-US" sz="900">
                <a:latin typeface="Times New Roman" panose="02020503050405090304"/>
                <a:ea typeface="宋体"/>
              </a:rPr>
              <a:t>，氯化胆碱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350 mg</a:t>
            </a:r>
            <a:r>
              <a:rPr lang="zh-CN" altLang="en-US" sz="900">
                <a:latin typeface="Times New Roman" panose="02020503050405090304"/>
                <a:ea typeface="宋体"/>
              </a:rPr>
              <a:t>，泛酸钙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15 mg</a:t>
            </a:r>
            <a:r>
              <a:rPr lang="zh-CN" altLang="en-US" sz="900">
                <a:latin typeface="Times New Roman" panose="02020503050405090304"/>
                <a:ea typeface="宋体"/>
              </a:rPr>
              <a:t>，叶酸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1 mg</a:t>
            </a:r>
            <a:r>
              <a:rPr lang="zh-CN" altLang="en-US" sz="900">
                <a:latin typeface="Times New Roman" panose="02020503050405090304"/>
                <a:ea typeface="宋体"/>
              </a:rPr>
              <a:t>，生物素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0.05 mg</a:t>
            </a:r>
            <a:r>
              <a:rPr lang="zh-CN" altLang="en-US" sz="900">
                <a:latin typeface="Times New Roman" panose="02020503050405090304"/>
                <a:ea typeface="宋体"/>
              </a:rPr>
              <a:t>，铁（由硫酸亚铁提供）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70 mg</a:t>
            </a:r>
            <a:r>
              <a:rPr lang="zh-CN" altLang="en-US" sz="900">
                <a:latin typeface="Times New Roman" panose="02020503050405090304"/>
                <a:ea typeface="宋体"/>
              </a:rPr>
              <a:t>，铜（由硫酸铜提供）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7.58mg</a:t>
            </a:r>
            <a:r>
              <a:rPr lang="zh-CN" altLang="en-US" sz="900">
                <a:latin typeface="Times New Roman" panose="02020503050405090304"/>
                <a:ea typeface="宋体"/>
              </a:rPr>
              <a:t>，锌（由硫酸锌提供）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68 mg</a:t>
            </a:r>
            <a:r>
              <a:rPr lang="zh-CN" altLang="en-US" sz="900">
                <a:latin typeface="Times New Roman" panose="02020503050405090304"/>
                <a:ea typeface="宋体"/>
              </a:rPr>
              <a:t>，锰（由硫酸锰提供）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120 mg</a:t>
            </a:r>
            <a:r>
              <a:rPr lang="zh-CN" altLang="en-US" sz="900">
                <a:latin typeface="Times New Roman" panose="02020503050405090304"/>
                <a:ea typeface="宋体"/>
              </a:rPr>
              <a:t>，碘（由碘酸钙提供）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1.2 mg</a:t>
            </a:r>
            <a:r>
              <a:rPr lang="zh-CN" altLang="en-US" sz="900">
                <a:latin typeface="Times New Roman" panose="02020503050405090304"/>
                <a:ea typeface="宋体"/>
              </a:rPr>
              <a:t>，硒（由亚硒酸钠提供）</a:t>
            </a:r>
            <a:r>
              <a:rPr lang="en-US" altLang="zh-CN" sz="900">
                <a:latin typeface="Times New Roman" panose="02020503050405090304"/>
                <a:ea typeface="Times New Roman" panose="02020503050405090304"/>
              </a:rPr>
              <a:t>0.4 mg</a:t>
            </a:r>
            <a:r>
              <a:rPr lang="zh-CN" altLang="en-US" sz="900">
                <a:latin typeface="Times New Roman" panose="02020503050405090304"/>
                <a:ea typeface="宋体"/>
              </a:rPr>
              <a:t>；营养水平为计算值。</a:t>
            </a:r>
            <a:endParaRPr lang="zh-CN" altLang="en-US" sz="900">
              <a:latin typeface="Times New Roman" panose="02020503050405090304"/>
              <a:ea typeface="宋体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ECF3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135883" y="299740"/>
            <a:ext cx="3815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320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  <a:sym typeface="+mn-ea"/>
              </a:rPr>
              <a:t>1.3 测定指标和方法</a:t>
            </a:r>
            <a:endParaRPr lang="zh-CN" altLang="en-US" sz="320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75S" panose="00020600040101010101" charset="-122"/>
              <a:ea typeface="汉仪旗黑-75S" panose="00020600040101010101" charset="-122"/>
              <a:sym typeface="+mn-ea"/>
            </a:endParaRPr>
          </a:p>
        </p:txBody>
      </p:sp>
      <p:sp>
        <p:nvSpPr>
          <p:cNvPr id="7" name="任意形状 12"/>
          <p:cNvSpPr/>
          <p:nvPr>
            <p:custDataLst>
              <p:tags r:id="rId2"/>
            </p:custDataLst>
          </p:nvPr>
        </p:nvSpPr>
        <p:spPr>
          <a:xfrm>
            <a:off x="0" y="6464698"/>
            <a:ext cx="12192000" cy="393302"/>
          </a:xfrm>
          <a:custGeom>
            <a:avLst/>
            <a:gdLst>
              <a:gd name="connsiteX0" fmla="*/ 12192000 w 12192000"/>
              <a:gd name="connsiteY0" fmla="*/ 0 h 909447"/>
              <a:gd name="connsiteX1" fmla="*/ 12192000 w 12192000"/>
              <a:gd name="connsiteY1" fmla="*/ 909447 h 909447"/>
              <a:gd name="connsiteX2" fmla="*/ 0 w 12192000"/>
              <a:gd name="connsiteY2" fmla="*/ 909447 h 909447"/>
              <a:gd name="connsiteX3" fmla="*/ 0 w 12192000"/>
              <a:gd name="connsiteY3" fmla="*/ 401788 h 909447"/>
              <a:gd name="connsiteX4" fmla="*/ 271475 w 12192000"/>
              <a:gd name="connsiteY4" fmla="*/ 389839 h 909447"/>
              <a:gd name="connsiteX5" fmla="*/ 8190271 w 12192000"/>
              <a:gd name="connsiteY5" fmla="*/ 639060 h 909447"/>
              <a:gd name="connsiteX6" fmla="*/ 12049480 w 12192000"/>
              <a:gd name="connsiteY6" fmla="*/ 34242 h 909447"/>
              <a:gd name="connsiteX0-1" fmla="*/ 12192000 w 12192000"/>
              <a:gd name="connsiteY0-2" fmla="*/ 0 h 909447"/>
              <a:gd name="connsiteX1-3" fmla="*/ 12192000 w 12192000"/>
              <a:gd name="connsiteY1-4" fmla="*/ 909447 h 909447"/>
              <a:gd name="connsiteX2-5" fmla="*/ 0 w 12192000"/>
              <a:gd name="connsiteY2-6" fmla="*/ 909447 h 909447"/>
              <a:gd name="connsiteX3-7" fmla="*/ 0 w 12192000"/>
              <a:gd name="connsiteY3-8" fmla="*/ 401788 h 909447"/>
              <a:gd name="connsiteX4-9" fmla="*/ 8190271 w 12192000"/>
              <a:gd name="connsiteY4-10" fmla="*/ 639060 h 909447"/>
              <a:gd name="connsiteX5-11" fmla="*/ 12049480 w 12192000"/>
              <a:gd name="connsiteY5-12" fmla="*/ 34242 h 909447"/>
              <a:gd name="connsiteX6-13" fmla="*/ 12192000 w 12192000"/>
              <a:gd name="connsiteY6-14" fmla="*/ 0 h 909447"/>
              <a:gd name="connsiteX0-15" fmla="*/ 12192000 w 12192000"/>
              <a:gd name="connsiteY0-16" fmla="*/ 0 h 909447"/>
              <a:gd name="connsiteX1-17" fmla="*/ 12192000 w 12192000"/>
              <a:gd name="connsiteY1-18" fmla="*/ 909447 h 909447"/>
              <a:gd name="connsiteX2-19" fmla="*/ 0 w 12192000"/>
              <a:gd name="connsiteY2-20" fmla="*/ 909447 h 909447"/>
              <a:gd name="connsiteX3-21" fmla="*/ 0 w 12192000"/>
              <a:gd name="connsiteY3-22" fmla="*/ 401788 h 909447"/>
              <a:gd name="connsiteX4-23" fmla="*/ 12049480 w 12192000"/>
              <a:gd name="connsiteY4-24" fmla="*/ 34242 h 909447"/>
              <a:gd name="connsiteX5-25" fmla="*/ 12192000 w 12192000"/>
              <a:gd name="connsiteY5-26" fmla="*/ 0 h 909447"/>
              <a:gd name="connsiteX0-27" fmla="*/ 12192000 w 12192000"/>
              <a:gd name="connsiteY0-28" fmla="*/ 0 h 909447"/>
              <a:gd name="connsiteX1-29" fmla="*/ 12192000 w 12192000"/>
              <a:gd name="connsiteY1-30" fmla="*/ 909447 h 909447"/>
              <a:gd name="connsiteX2-31" fmla="*/ 0 w 12192000"/>
              <a:gd name="connsiteY2-32" fmla="*/ 909447 h 909447"/>
              <a:gd name="connsiteX3-33" fmla="*/ 0 w 12192000"/>
              <a:gd name="connsiteY3-34" fmla="*/ 401788 h 909447"/>
              <a:gd name="connsiteX4-35" fmla="*/ 12192000 w 12192000"/>
              <a:gd name="connsiteY4-36" fmla="*/ 0 h 909447"/>
              <a:gd name="connsiteX0-37" fmla="*/ 12192000 w 12192000"/>
              <a:gd name="connsiteY0-38" fmla="*/ 0 h 909447"/>
              <a:gd name="connsiteX1-39" fmla="*/ 12192000 w 12192000"/>
              <a:gd name="connsiteY1-40" fmla="*/ 909447 h 909447"/>
              <a:gd name="connsiteX2-41" fmla="*/ 0 w 12192000"/>
              <a:gd name="connsiteY2-42" fmla="*/ 909447 h 909447"/>
              <a:gd name="connsiteX3-43" fmla="*/ 0 w 12192000"/>
              <a:gd name="connsiteY3-44" fmla="*/ 401788 h 909447"/>
              <a:gd name="connsiteX4-45" fmla="*/ 12192000 w 12192000"/>
              <a:gd name="connsiteY4-46" fmla="*/ 0 h 909447"/>
              <a:gd name="connsiteX0-47" fmla="*/ 12192000 w 12192000"/>
              <a:gd name="connsiteY0-48" fmla="*/ 0 h 909447"/>
              <a:gd name="connsiteX1-49" fmla="*/ 12192000 w 12192000"/>
              <a:gd name="connsiteY1-50" fmla="*/ 909447 h 909447"/>
              <a:gd name="connsiteX2-51" fmla="*/ 0 w 12192000"/>
              <a:gd name="connsiteY2-52" fmla="*/ 909447 h 909447"/>
              <a:gd name="connsiteX3-53" fmla="*/ 0 w 12192000"/>
              <a:gd name="connsiteY3-54" fmla="*/ 401788 h 909447"/>
              <a:gd name="connsiteX4-55" fmla="*/ 12192000 w 12192000"/>
              <a:gd name="connsiteY4-56" fmla="*/ 0 h 9094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909447">
                <a:moveTo>
                  <a:pt x="12192000" y="0"/>
                </a:moveTo>
                <a:lnTo>
                  <a:pt x="12192000" y="909447"/>
                </a:lnTo>
                <a:lnTo>
                  <a:pt x="0" y="909447"/>
                </a:lnTo>
                <a:lnTo>
                  <a:pt x="0" y="401788"/>
                </a:lnTo>
                <a:cubicBezTo>
                  <a:pt x="2540000" y="700478"/>
                  <a:pt x="6289368" y="812355"/>
                  <a:pt x="12192000" y="0"/>
                </a:cubicBezTo>
                <a:close/>
              </a:path>
            </a:pathLst>
          </a:cu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347472" y="329184"/>
            <a:ext cx="493776" cy="493776"/>
          </a:xfrm>
          <a:prstGeom prst="ellipse">
            <a:avLst/>
          </a:pr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676656" y="329184"/>
            <a:ext cx="493776" cy="493776"/>
          </a:xfrm>
          <a:prstGeom prst="ellipse">
            <a:avLst/>
          </a:prstGeom>
          <a:solidFill>
            <a:srgbClr val="36AE02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cxnSp>
        <p:nvCxnSpPr>
          <p:cNvPr id="12" name="直线连接符 11"/>
          <p:cNvCxnSpPr/>
          <p:nvPr>
            <p:custDataLst>
              <p:tags r:id="rId5"/>
            </p:custDataLst>
          </p:nvPr>
        </p:nvCxnSpPr>
        <p:spPr>
          <a:xfrm>
            <a:off x="34290" y="989452"/>
            <a:ext cx="12192000" cy="0"/>
          </a:xfrm>
          <a:prstGeom prst="line">
            <a:avLst/>
          </a:prstGeom>
          <a:ln w="25400">
            <a:solidFill>
              <a:srgbClr val="3A7F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2091055" y="1274445"/>
            <a:ext cx="7654925" cy="4338955"/>
            <a:chOff x="1447" y="2418"/>
            <a:chExt cx="12055" cy="6833"/>
          </a:xfrm>
        </p:grpSpPr>
        <p:grpSp>
          <p:nvGrpSpPr>
            <p:cNvPr id="18" name="组合 17"/>
            <p:cNvGrpSpPr/>
            <p:nvPr/>
          </p:nvGrpSpPr>
          <p:grpSpPr>
            <a:xfrm>
              <a:off x="1447" y="3640"/>
              <a:ext cx="3555" cy="5611"/>
              <a:chOff x="1843" y="3064"/>
              <a:chExt cx="3555" cy="5611"/>
            </a:xfrm>
          </p:grpSpPr>
          <p:sp>
            <p:nvSpPr>
              <p:cNvPr id="11" name="圆角矩形 10"/>
              <p:cNvSpPr/>
              <p:nvPr/>
            </p:nvSpPr>
            <p:spPr>
              <a:xfrm>
                <a:off x="1843" y="3064"/>
                <a:ext cx="3555" cy="5611"/>
              </a:xfrm>
              <a:prstGeom prst="roundRect">
                <a:avLst>
                  <a:gd name="adj" fmla="val 8101"/>
                </a:avLst>
              </a:prstGeom>
              <a:solidFill>
                <a:schemeClr val="bg1"/>
              </a:soli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rgbClr val="36AE02"/>
                    </a:gs>
                    <a:gs pos="83000">
                      <a:srgbClr val="76BC30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blurRad="609600" dist="228600" dir="2700000" algn="tl" rotWithShape="0">
                  <a:srgbClr val="3A7F15">
                    <a:alpha val="40000"/>
                  </a:srgbClr>
                </a:outerShdw>
                <a:reflection blurRad="6350" stA="52000" endA="300" endPos="35000" dir="5400000" sy="-100000" algn="bl" rotWithShape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2857" y="3564"/>
                <a:ext cx="1528" cy="1528"/>
              </a:xfrm>
              <a:prstGeom prst="ellipse">
                <a:avLst/>
              </a:prstGeom>
              <a:gradFill>
                <a:gsLst>
                  <a:gs pos="76000">
                    <a:srgbClr val="367212"/>
                  </a:gs>
                  <a:gs pos="100000">
                    <a:srgbClr val="36AE02"/>
                  </a:gs>
                  <a:gs pos="0">
                    <a:srgbClr val="76BC30"/>
                  </a:gs>
                  <a:gs pos="60000">
                    <a:srgbClr val="367212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ffectLst>
                <a:outerShdw blurRad="317500" dist="152400" dir="2700000" algn="tl" rotWithShape="0">
                  <a:srgbClr val="22A13A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2130" y="5451"/>
                <a:ext cx="2817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2000">
                    <a:latin typeface="汉仪旗黑-75S" panose="00020600040101010101" charset="-122"/>
                    <a:ea typeface="汉仪旗黑-75S" panose="00020600040101010101" charset="-122"/>
                  </a:rPr>
                  <a:t>1.3.1生长性能</a:t>
                </a:r>
                <a:endParaRPr lang="zh-CN" altLang="en-US" sz="2000">
                  <a:latin typeface="汉仪旗黑-75S" panose="00020600040101010101" charset="-122"/>
                  <a:ea typeface="汉仪旗黑-75S" panose="00020600040101010101" charset="-122"/>
                </a:endParaRPr>
              </a:p>
            </p:txBody>
          </p:sp>
          <p:sp>
            <p:nvSpPr>
              <p:cNvPr id="15" name="文本框 14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185" y="6715"/>
                <a:ext cx="3011" cy="159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dirty="0">
                    <a:solidFill>
                      <a:schemeClr val="tx1"/>
                    </a:solidFill>
                    <a:latin typeface="汉仪旗黑-50简" panose="00020600040101010101" charset="-122"/>
                    <a:ea typeface="汉仪旗黑-50简" panose="00020600040101010101" charset="-122"/>
                    <a:cs typeface="汉仪旗黑-50简" panose="00020600040101010101" charset="-122"/>
                    <a:sym typeface="+mn-ea"/>
                  </a:rPr>
                  <a:t>在整个试验期间，观察并记录每组肉鸡的生长和健康状况，每周统计肉鸡体重和准确采食量（称重前8 h断料不断水），计算每组肉鸡的平均日增重、平均日采食量和耗料增重比。</a:t>
                </a:r>
                <a:endParaRPr sz="1000" dirty="0">
                  <a:solidFill>
                    <a:schemeClr val="tx1"/>
                  </a:solidFill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  <a:sym typeface="+mn-ea"/>
                </a:endParaRPr>
              </a:p>
            </p:txBody>
          </p:sp>
          <p:pic>
            <p:nvPicPr>
              <p:cNvPr id="16" name="图形 22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69" y="3960"/>
                <a:ext cx="735" cy="735"/>
              </a:xfrm>
              <a:prstGeom prst="rect">
                <a:avLst/>
              </a:prstGeom>
            </p:spPr>
          </p:pic>
          <p:cxnSp>
            <p:nvCxnSpPr>
              <p:cNvPr id="17" name="直接连接符 16"/>
              <p:cNvCxnSpPr/>
              <p:nvPr/>
            </p:nvCxnSpPr>
            <p:spPr>
              <a:xfrm>
                <a:off x="3254" y="6445"/>
                <a:ext cx="750" cy="0"/>
              </a:xfrm>
              <a:prstGeom prst="line">
                <a:avLst/>
              </a:prstGeom>
              <a:ln w="31750">
                <a:solidFill>
                  <a:srgbClr val="3A7F1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组合 18"/>
            <p:cNvGrpSpPr/>
            <p:nvPr/>
          </p:nvGrpSpPr>
          <p:grpSpPr>
            <a:xfrm>
              <a:off x="5697" y="2418"/>
              <a:ext cx="3555" cy="5611"/>
              <a:chOff x="1843" y="3064"/>
              <a:chExt cx="3555" cy="5611"/>
            </a:xfrm>
          </p:grpSpPr>
          <p:sp>
            <p:nvSpPr>
              <p:cNvPr id="20" name="圆角矩形 19"/>
              <p:cNvSpPr/>
              <p:nvPr/>
            </p:nvSpPr>
            <p:spPr>
              <a:xfrm>
                <a:off x="1843" y="3064"/>
                <a:ext cx="3555" cy="5611"/>
              </a:xfrm>
              <a:prstGeom prst="roundRect">
                <a:avLst>
                  <a:gd name="adj" fmla="val 8101"/>
                </a:avLst>
              </a:prstGeom>
              <a:solidFill>
                <a:schemeClr val="bg1"/>
              </a:soli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rgbClr val="36AE02"/>
                    </a:gs>
                    <a:gs pos="83000">
                      <a:srgbClr val="76BC30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blurRad="609600" dist="228600" dir="2700000" algn="tl" rotWithShape="0">
                  <a:srgbClr val="3A7F15">
                    <a:alpha val="40000"/>
                  </a:srgbClr>
                </a:outerShdw>
                <a:reflection blurRad="6350" stA="52000" endA="300" endPos="35000" dir="5400000" sy="-100000" algn="bl" rotWithShape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2857" y="3564"/>
                <a:ext cx="1528" cy="1528"/>
              </a:xfrm>
              <a:prstGeom prst="ellipse">
                <a:avLst/>
              </a:prstGeom>
              <a:gradFill>
                <a:gsLst>
                  <a:gs pos="76000">
                    <a:srgbClr val="367212"/>
                  </a:gs>
                  <a:gs pos="100000">
                    <a:srgbClr val="36AE02"/>
                  </a:gs>
                  <a:gs pos="0">
                    <a:srgbClr val="76BC30"/>
                  </a:gs>
                  <a:gs pos="60000">
                    <a:srgbClr val="367212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ffectLst>
                <a:outerShdw blurRad="317500" dist="152400" dir="2700000" algn="tl" rotWithShape="0">
                  <a:srgbClr val="22A13A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2130" y="5347"/>
                <a:ext cx="2817" cy="1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2000">
                    <a:latin typeface="汉仪旗黑-75S" panose="00020600040101010101" charset="-122"/>
                    <a:ea typeface="汉仪旗黑-75S" panose="00020600040101010101" charset="-122"/>
                  </a:rPr>
                  <a:t>1.3.2血清生化指标检测</a:t>
                </a:r>
                <a:endParaRPr lang="zh-CN" altLang="en-US" sz="2000">
                  <a:latin typeface="汉仪旗黑-75S" panose="00020600040101010101" charset="-122"/>
                  <a:ea typeface="汉仪旗黑-75S" panose="00020600040101010101" charset="-122"/>
                </a:endParaRPr>
              </a:p>
            </p:txBody>
          </p:sp>
          <p:sp>
            <p:nvSpPr>
              <p:cNvPr id="23" name="文本框 22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185" y="6715"/>
                <a:ext cx="3011" cy="159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dirty="0">
                    <a:solidFill>
                      <a:schemeClr val="tx1"/>
                    </a:solidFill>
                    <a:latin typeface="汉仪旗黑-50简" panose="00020600040101010101" charset="-122"/>
                    <a:ea typeface="汉仪旗黑-50简" panose="00020600040101010101" charset="-122"/>
                    <a:cs typeface="汉仪旗黑-50简" panose="00020600040101010101" charset="-122"/>
                    <a:sym typeface="+mn-ea"/>
                  </a:rPr>
                  <a:t>于试验期第21天，每个重复选取2只接近平均体重的肉鸡屠宰取样，使用5 m L离心管颈静脉采血，3 500 r/min离心10 min，分离得到血清后置于-20℃保存。</a:t>
                </a:r>
                <a:endParaRPr sz="1000" dirty="0">
                  <a:solidFill>
                    <a:schemeClr val="tx1"/>
                  </a:solidFill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  <a:sym typeface="+mn-ea"/>
                </a:endParaRPr>
              </a:p>
            </p:txBody>
          </p:sp>
          <p:pic>
            <p:nvPicPr>
              <p:cNvPr id="24" name="图形 22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69" y="3960"/>
                <a:ext cx="735" cy="735"/>
              </a:xfrm>
              <a:prstGeom prst="rect">
                <a:avLst/>
              </a:prstGeom>
            </p:spPr>
          </p:pic>
          <p:cxnSp>
            <p:nvCxnSpPr>
              <p:cNvPr id="25" name="直接连接符 24"/>
              <p:cNvCxnSpPr/>
              <p:nvPr/>
            </p:nvCxnSpPr>
            <p:spPr>
              <a:xfrm>
                <a:off x="3254" y="6445"/>
                <a:ext cx="750" cy="0"/>
              </a:xfrm>
              <a:prstGeom prst="line">
                <a:avLst/>
              </a:prstGeom>
              <a:ln w="31750">
                <a:solidFill>
                  <a:srgbClr val="3A7F1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/>
            <p:cNvGrpSpPr/>
            <p:nvPr/>
          </p:nvGrpSpPr>
          <p:grpSpPr>
            <a:xfrm>
              <a:off x="9948" y="3641"/>
              <a:ext cx="3555" cy="5611"/>
              <a:chOff x="1843" y="3064"/>
              <a:chExt cx="3555" cy="5611"/>
            </a:xfrm>
          </p:grpSpPr>
          <p:sp>
            <p:nvSpPr>
              <p:cNvPr id="27" name="圆角矩形 26"/>
              <p:cNvSpPr/>
              <p:nvPr/>
            </p:nvSpPr>
            <p:spPr>
              <a:xfrm>
                <a:off x="1843" y="3064"/>
                <a:ext cx="3555" cy="5611"/>
              </a:xfrm>
              <a:prstGeom prst="roundRect">
                <a:avLst>
                  <a:gd name="adj" fmla="val 8101"/>
                </a:avLst>
              </a:prstGeom>
              <a:solidFill>
                <a:schemeClr val="bg1"/>
              </a:soli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rgbClr val="36AE02"/>
                    </a:gs>
                    <a:gs pos="83000">
                      <a:srgbClr val="76BC30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blurRad="609600" dist="228600" dir="2700000" algn="tl" rotWithShape="0">
                  <a:srgbClr val="3A7F15">
                    <a:alpha val="40000"/>
                  </a:srgbClr>
                </a:outerShdw>
                <a:reflection blurRad="6350" stA="52000" endA="300" endPos="35000" dir="5400000" sy="-100000" algn="bl" rotWithShape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2857" y="3564"/>
                <a:ext cx="1528" cy="1528"/>
              </a:xfrm>
              <a:prstGeom prst="ellipse">
                <a:avLst/>
              </a:prstGeom>
              <a:gradFill>
                <a:gsLst>
                  <a:gs pos="76000">
                    <a:srgbClr val="367212"/>
                  </a:gs>
                  <a:gs pos="100000">
                    <a:srgbClr val="36AE02"/>
                  </a:gs>
                  <a:gs pos="0">
                    <a:srgbClr val="76BC30"/>
                  </a:gs>
                  <a:gs pos="60000">
                    <a:srgbClr val="367212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ffectLst>
                <a:outerShdw blurRad="317500" dist="152400" dir="2700000" algn="tl" rotWithShape="0">
                  <a:srgbClr val="22A13A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2130" y="5347"/>
                <a:ext cx="2817" cy="1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2000">
                    <a:latin typeface="汉仪旗黑-75S" panose="00020600040101010101" charset="-122"/>
                    <a:ea typeface="汉仪旗黑-75S" panose="00020600040101010101" charset="-122"/>
                  </a:rPr>
                  <a:t>1.3.3肠道形态学观察</a:t>
                </a:r>
                <a:endParaRPr lang="zh-CN" altLang="en-US" sz="2000">
                  <a:latin typeface="汉仪旗黑-75S" panose="00020600040101010101" charset="-122"/>
                  <a:ea typeface="汉仪旗黑-75S" panose="00020600040101010101" charset="-122"/>
                </a:endParaRPr>
              </a:p>
            </p:txBody>
          </p:sp>
          <p:sp>
            <p:nvSpPr>
              <p:cNvPr id="30" name="文本框 29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013" y="6460"/>
                <a:ext cx="3215" cy="184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dirty="0">
                    <a:solidFill>
                      <a:schemeClr val="tx1"/>
                    </a:solidFill>
                    <a:latin typeface="汉仪旗黑-50简" panose="00020600040101010101" charset="-122"/>
                    <a:ea typeface="汉仪旗黑-50简" panose="00020600040101010101" charset="-122"/>
                    <a:cs typeface="汉仪旗黑-50简" panose="00020600040101010101" charset="-122"/>
                    <a:sym typeface="+mn-ea"/>
                  </a:rPr>
                  <a:t>肠道组织切片制作完成后，使用光学显微镜观察测量。从切片图像中随机选取10支完整的绒毛，测量绒毛的绒毛高度和对应的隐窝深度，再计算绒毛高度与隐窝深度的比值，最终取平均值作为切片的肠道形态测量结果。</a:t>
                </a:r>
                <a:endParaRPr sz="1000" dirty="0">
                  <a:solidFill>
                    <a:schemeClr val="tx1"/>
                  </a:solidFill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  <a:sym typeface="+mn-ea"/>
                </a:endParaRPr>
              </a:p>
            </p:txBody>
          </p:sp>
          <p:pic>
            <p:nvPicPr>
              <p:cNvPr id="31" name="图形 22"/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69" y="3960"/>
                <a:ext cx="735" cy="735"/>
              </a:xfrm>
              <a:prstGeom prst="rect">
                <a:avLst/>
              </a:prstGeom>
            </p:spPr>
          </p:pic>
          <p:cxnSp>
            <p:nvCxnSpPr>
              <p:cNvPr id="32" name="直接连接符 31"/>
              <p:cNvCxnSpPr/>
              <p:nvPr/>
            </p:nvCxnSpPr>
            <p:spPr>
              <a:xfrm>
                <a:off x="3254" y="6445"/>
                <a:ext cx="750" cy="0"/>
              </a:xfrm>
              <a:prstGeom prst="line">
                <a:avLst/>
              </a:prstGeom>
              <a:ln w="31750">
                <a:solidFill>
                  <a:srgbClr val="3A7F1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文本框 1"/>
          <p:cNvSpPr txBox="1"/>
          <p:nvPr/>
        </p:nvSpPr>
        <p:spPr>
          <a:xfrm>
            <a:off x="2091055" y="5853430"/>
            <a:ext cx="8138160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25000"/>
              </a:lnSpc>
              <a:spcAft>
                <a:spcPct val="0"/>
              </a:spcAft>
            </a:pPr>
            <a:r>
              <a:rPr lang="zh-CN" altLang="en-US" sz="1600">
                <a:latin typeface="Times New Roman" panose="02020503050405090304"/>
                <a:ea typeface="宋体"/>
              </a:rPr>
              <a:t>本试验数据采用</a:t>
            </a:r>
            <a:r>
              <a:rPr lang="en-US" altLang="zh-CN" sz="1600">
                <a:latin typeface="Times New Roman" panose="02020503050405090304"/>
                <a:ea typeface="Times New Roman" panose="02020503050405090304"/>
              </a:rPr>
              <a:t>SPSS 25.0</a:t>
            </a:r>
            <a:r>
              <a:rPr lang="zh-CN" altLang="en-US" sz="1600">
                <a:latin typeface="Times New Roman" panose="02020503050405090304"/>
                <a:ea typeface="宋体"/>
              </a:rPr>
              <a:t>统计软件进行单因素方差分析，当组间差异显著时，用邓肯多重比较分析。</a:t>
            </a:r>
            <a:r>
              <a:rPr lang="en-US" altLang="zh-CN" sz="1600">
                <a:latin typeface="Times New Roman" panose="02020503050405090304"/>
                <a:ea typeface="Times New Roman" panose="02020503050405090304"/>
              </a:rPr>
              <a:t>P&lt;0.05</a:t>
            </a:r>
            <a:r>
              <a:rPr lang="zh-CN" altLang="en-US" sz="1600">
                <a:latin typeface="Times New Roman" panose="02020503050405090304"/>
                <a:ea typeface="宋体"/>
              </a:rPr>
              <a:t>为差异显著，</a:t>
            </a:r>
            <a:r>
              <a:rPr lang="en-US" altLang="zh-CN" sz="1600">
                <a:latin typeface="Times New Roman" panose="02020503050405090304"/>
                <a:ea typeface="Times New Roman" panose="02020503050405090304"/>
              </a:rPr>
              <a:t>0.05</a:t>
            </a:r>
            <a:r>
              <a:rPr lang="en-US" altLang="zh-CN" sz="1600">
                <a:latin typeface="Times New Roman" panose="02020503050405090304"/>
                <a:ea typeface="宋体"/>
              </a:rPr>
              <a:t>≤</a:t>
            </a:r>
            <a:r>
              <a:rPr lang="en-US" altLang="zh-CN" sz="1600">
                <a:latin typeface="Times New Roman" panose="02020503050405090304"/>
                <a:ea typeface="Times New Roman" panose="02020503050405090304"/>
              </a:rPr>
              <a:t>P</a:t>
            </a:r>
            <a:r>
              <a:rPr lang="en-US" altLang="zh-CN" sz="1600">
                <a:latin typeface="Times New Roman" panose="02020503050405090304"/>
                <a:ea typeface="宋体"/>
              </a:rPr>
              <a:t>≤</a:t>
            </a:r>
            <a:r>
              <a:rPr lang="en-US" altLang="zh-CN" sz="1600">
                <a:latin typeface="Times New Roman" panose="02020503050405090304"/>
                <a:ea typeface="Times New Roman" panose="02020503050405090304"/>
              </a:rPr>
              <a:t>0.10</a:t>
            </a:r>
            <a:r>
              <a:rPr lang="zh-CN" altLang="en-US" sz="1600">
                <a:latin typeface="Times New Roman" panose="02020503050405090304"/>
                <a:ea typeface="宋体"/>
              </a:rPr>
              <a:t>表示有显著趋势。</a:t>
            </a:r>
            <a:endParaRPr lang="zh-CN" altLang="en-US" sz="1600">
              <a:latin typeface="Times New Roman" panose="02020503050405090304"/>
              <a:ea typeface="宋体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>
            <a:off x="0" y="0"/>
            <a:ext cx="513524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87" h="10800">
                <a:moveTo>
                  <a:pt x="0" y="0"/>
                </a:moveTo>
                <a:lnTo>
                  <a:pt x="7089" y="0"/>
                </a:lnTo>
                <a:lnTo>
                  <a:pt x="7124" y="66"/>
                </a:lnTo>
                <a:cubicBezTo>
                  <a:pt x="7739" y="1232"/>
                  <a:pt x="8087" y="2560"/>
                  <a:pt x="8087" y="3969"/>
                </a:cubicBezTo>
                <a:cubicBezTo>
                  <a:pt x="8087" y="6788"/>
                  <a:pt x="6695" y="9281"/>
                  <a:pt x="4560" y="10799"/>
                </a:cubicBezTo>
                <a:lnTo>
                  <a:pt x="4559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487160" y="2468880"/>
            <a:ext cx="47898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720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  <a:sym typeface="+mn-ea"/>
              </a:rPr>
              <a:t>结果与分析</a:t>
            </a:r>
            <a:endParaRPr lang="zh-CN" altLang="en-US" sz="720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75S" panose="00020600040101010101" charset="-122"/>
              <a:ea typeface="汉仪旗黑-75S" panose="0002060004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71245" y="801370"/>
            <a:ext cx="4064000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60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</a:rPr>
              <a:t>02</a:t>
            </a:r>
            <a:endParaRPr lang="en-US" altLang="zh-CN" sz="1660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75S" panose="00020600040101010101" charset="-122"/>
              <a:ea typeface="汉仪旗黑-75S" panose="00020600040101010101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523865" y="4830445"/>
            <a:ext cx="5629910" cy="0"/>
          </a:xfrm>
          <a:prstGeom prst="line">
            <a:avLst/>
          </a:prstGeom>
          <a:ln>
            <a:solidFill>
              <a:srgbClr val="3A7F1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>
            <p:custDataLst>
              <p:tags r:id="rId4"/>
            </p:custDataLst>
          </p:nvPr>
        </p:nvSpPr>
        <p:spPr>
          <a:xfrm>
            <a:off x="8382000" y="1031240"/>
            <a:ext cx="2740025" cy="61722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6AE02"/>
              </a:gs>
              <a:gs pos="100000">
                <a:srgbClr val="224B0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5"/>
            </p:custDataLst>
          </p:nvPr>
        </p:nvSpPr>
        <p:spPr>
          <a:xfrm>
            <a:off x="8696325" y="1075690"/>
            <a:ext cx="21831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3200">
                <a:solidFill>
                  <a:schemeClr val="bg1"/>
                </a:solidFill>
                <a:latin typeface="汉仪旗黑-75S" panose="00020600040101010101" charset="-122"/>
                <a:ea typeface="汉仪旗黑-75S" panose="00020600040101010101" charset="-122"/>
                <a:cs typeface="汉仪旗黑-75S" panose="00020600040101010101" charset="-122"/>
              </a:rPr>
              <a:t>第二部分</a:t>
            </a:r>
            <a:endParaRPr lang="zh-CN" altLang="en-US" sz="3200">
              <a:solidFill>
                <a:schemeClr val="bg1"/>
              </a:solidFill>
              <a:latin typeface="汉仪旗黑-75S" panose="00020600040101010101" charset="-122"/>
              <a:ea typeface="汉仪旗黑-75S" panose="00020600040101010101" charset="-122"/>
              <a:cs typeface="汉仪旗黑-75S" panose="00020600040101010101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ECF3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9" name="任意多边形 48"/>
          <p:cNvSpPr/>
          <p:nvPr/>
        </p:nvSpPr>
        <p:spPr>
          <a:xfrm>
            <a:off x="3689350" y="1078230"/>
            <a:ext cx="2510155" cy="2107565"/>
          </a:xfrm>
          <a:custGeom>
            <a:avLst/>
            <a:gdLst>
              <a:gd name="connsiteX0" fmla="*/ 4937 w 6467"/>
              <a:gd name="connsiteY0" fmla="*/ 0 h 5715"/>
              <a:gd name="connsiteX1" fmla="*/ 6467 w 6467"/>
              <a:gd name="connsiteY1" fmla="*/ 1674 h 5715"/>
              <a:gd name="connsiteX2" fmla="*/ 5635 w 6467"/>
              <a:gd name="connsiteY2" fmla="*/ 1674 h 5715"/>
              <a:gd name="connsiteX3" fmla="*/ 5635 w 6467"/>
              <a:gd name="connsiteY3" fmla="*/ 1689 h 5715"/>
              <a:gd name="connsiteX4" fmla="*/ 4762 w 6467"/>
              <a:gd name="connsiteY4" fmla="*/ 3246 h 5715"/>
              <a:gd name="connsiteX5" fmla="*/ 2787 w 6467"/>
              <a:gd name="connsiteY5" fmla="*/ 4765 h 5715"/>
              <a:gd name="connsiteX6" fmla="*/ 0 w 6467"/>
              <a:gd name="connsiteY6" fmla="*/ 5713 h 5715"/>
              <a:gd name="connsiteX7" fmla="*/ 2806 w 6467"/>
              <a:gd name="connsiteY7" fmla="*/ 4176 h 5715"/>
              <a:gd name="connsiteX8" fmla="*/ 3740 w 6467"/>
              <a:gd name="connsiteY8" fmla="*/ 3157 h 5715"/>
              <a:gd name="connsiteX9" fmla="*/ 4327 w 6467"/>
              <a:gd name="connsiteY9" fmla="*/ 1843 h 5715"/>
              <a:gd name="connsiteX10" fmla="*/ 4397 w 6467"/>
              <a:gd name="connsiteY10" fmla="*/ 1674 h 5715"/>
              <a:gd name="connsiteX11" fmla="*/ 3406 w 6467"/>
              <a:gd name="connsiteY11" fmla="*/ 1674 h 5715"/>
              <a:gd name="connsiteX12" fmla="*/ 4937 w 6467"/>
              <a:gd name="connsiteY12" fmla="*/ 0 h 5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467" h="5716">
                <a:moveTo>
                  <a:pt x="4937" y="0"/>
                </a:moveTo>
                <a:lnTo>
                  <a:pt x="6467" y="1674"/>
                </a:lnTo>
                <a:lnTo>
                  <a:pt x="5635" y="1674"/>
                </a:lnTo>
                <a:lnTo>
                  <a:pt x="5635" y="1689"/>
                </a:lnTo>
                <a:cubicBezTo>
                  <a:pt x="5635" y="1909"/>
                  <a:pt x="5283" y="2699"/>
                  <a:pt x="4762" y="3246"/>
                </a:cubicBezTo>
                <a:cubicBezTo>
                  <a:pt x="4173" y="3910"/>
                  <a:pt x="3752" y="4266"/>
                  <a:pt x="2787" y="4765"/>
                </a:cubicBezTo>
                <a:cubicBezTo>
                  <a:pt x="1821" y="5265"/>
                  <a:pt x="88" y="5757"/>
                  <a:pt x="0" y="5713"/>
                </a:cubicBezTo>
                <a:cubicBezTo>
                  <a:pt x="22" y="5691"/>
                  <a:pt x="1925" y="4988"/>
                  <a:pt x="2806" y="4176"/>
                </a:cubicBezTo>
                <a:cubicBezTo>
                  <a:pt x="3740" y="3157"/>
                  <a:pt x="4327" y="1843"/>
                  <a:pt x="4397" y="1678"/>
                </a:cubicBezTo>
                <a:lnTo>
                  <a:pt x="4397" y="1674"/>
                </a:lnTo>
                <a:lnTo>
                  <a:pt x="3406" y="1674"/>
                </a:lnTo>
                <a:lnTo>
                  <a:pt x="4937" y="0"/>
                </a:lnTo>
                <a:close/>
              </a:path>
            </a:pathLst>
          </a:custGeom>
          <a:gradFill>
            <a:gsLst>
              <a:gs pos="100000">
                <a:srgbClr val="3A7E15"/>
              </a:gs>
              <a:gs pos="4000">
                <a:srgbClr val="76BC3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352418" y="299740"/>
            <a:ext cx="952055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2.1 日粮添加丁酸钠对肉鸡生长后期生长性能的影响</a:t>
            </a:r>
            <a:endParaRPr kumimoji="1" sz="3200" b="1" dirty="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50简" panose="00020600040101010101" charset="-122"/>
              <a:ea typeface="汉仪旗黑-50简" panose="00020600040101010101" charset="-122"/>
            </a:endParaRPr>
          </a:p>
        </p:txBody>
      </p:sp>
      <p:sp>
        <p:nvSpPr>
          <p:cNvPr id="7" name="任意形状 12"/>
          <p:cNvSpPr/>
          <p:nvPr>
            <p:custDataLst>
              <p:tags r:id="rId2"/>
            </p:custDataLst>
          </p:nvPr>
        </p:nvSpPr>
        <p:spPr>
          <a:xfrm>
            <a:off x="0" y="6464698"/>
            <a:ext cx="12192000" cy="393302"/>
          </a:xfrm>
          <a:custGeom>
            <a:avLst/>
            <a:gdLst>
              <a:gd name="connsiteX0" fmla="*/ 12192000 w 12192000"/>
              <a:gd name="connsiteY0" fmla="*/ 0 h 909447"/>
              <a:gd name="connsiteX1" fmla="*/ 12192000 w 12192000"/>
              <a:gd name="connsiteY1" fmla="*/ 909447 h 909447"/>
              <a:gd name="connsiteX2" fmla="*/ 0 w 12192000"/>
              <a:gd name="connsiteY2" fmla="*/ 909447 h 909447"/>
              <a:gd name="connsiteX3" fmla="*/ 0 w 12192000"/>
              <a:gd name="connsiteY3" fmla="*/ 401788 h 909447"/>
              <a:gd name="connsiteX4" fmla="*/ 271475 w 12192000"/>
              <a:gd name="connsiteY4" fmla="*/ 389839 h 909447"/>
              <a:gd name="connsiteX5" fmla="*/ 8190271 w 12192000"/>
              <a:gd name="connsiteY5" fmla="*/ 639060 h 909447"/>
              <a:gd name="connsiteX6" fmla="*/ 12049480 w 12192000"/>
              <a:gd name="connsiteY6" fmla="*/ 34242 h 909447"/>
              <a:gd name="connsiteX0-1" fmla="*/ 12192000 w 12192000"/>
              <a:gd name="connsiteY0-2" fmla="*/ 0 h 909447"/>
              <a:gd name="connsiteX1-3" fmla="*/ 12192000 w 12192000"/>
              <a:gd name="connsiteY1-4" fmla="*/ 909447 h 909447"/>
              <a:gd name="connsiteX2-5" fmla="*/ 0 w 12192000"/>
              <a:gd name="connsiteY2-6" fmla="*/ 909447 h 909447"/>
              <a:gd name="connsiteX3-7" fmla="*/ 0 w 12192000"/>
              <a:gd name="connsiteY3-8" fmla="*/ 401788 h 909447"/>
              <a:gd name="connsiteX4-9" fmla="*/ 8190271 w 12192000"/>
              <a:gd name="connsiteY4-10" fmla="*/ 639060 h 909447"/>
              <a:gd name="connsiteX5-11" fmla="*/ 12049480 w 12192000"/>
              <a:gd name="connsiteY5-12" fmla="*/ 34242 h 909447"/>
              <a:gd name="connsiteX6-13" fmla="*/ 12192000 w 12192000"/>
              <a:gd name="connsiteY6-14" fmla="*/ 0 h 909447"/>
              <a:gd name="connsiteX0-15" fmla="*/ 12192000 w 12192000"/>
              <a:gd name="connsiteY0-16" fmla="*/ 0 h 909447"/>
              <a:gd name="connsiteX1-17" fmla="*/ 12192000 w 12192000"/>
              <a:gd name="connsiteY1-18" fmla="*/ 909447 h 909447"/>
              <a:gd name="connsiteX2-19" fmla="*/ 0 w 12192000"/>
              <a:gd name="connsiteY2-20" fmla="*/ 909447 h 909447"/>
              <a:gd name="connsiteX3-21" fmla="*/ 0 w 12192000"/>
              <a:gd name="connsiteY3-22" fmla="*/ 401788 h 909447"/>
              <a:gd name="connsiteX4-23" fmla="*/ 12049480 w 12192000"/>
              <a:gd name="connsiteY4-24" fmla="*/ 34242 h 909447"/>
              <a:gd name="connsiteX5-25" fmla="*/ 12192000 w 12192000"/>
              <a:gd name="connsiteY5-26" fmla="*/ 0 h 909447"/>
              <a:gd name="connsiteX0-27" fmla="*/ 12192000 w 12192000"/>
              <a:gd name="connsiteY0-28" fmla="*/ 0 h 909447"/>
              <a:gd name="connsiteX1-29" fmla="*/ 12192000 w 12192000"/>
              <a:gd name="connsiteY1-30" fmla="*/ 909447 h 909447"/>
              <a:gd name="connsiteX2-31" fmla="*/ 0 w 12192000"/>
              <a:gd name="connsiteY2-32" fmla="*/ 909447 h 909447"/>
              <a:gd name="connsiteX3-33" fmla="*/ 0 w 12192000"/>
              <a:gd name="connsiteY3-34" fmla="*/ 401788 h 909447"/>
              <a:gd name="connsiteX4-35" fmla="*/ 12192000 w 12192000"/>
              <a:gd name="connsiteY4-36" fmla="*/ 0 h 909447"/>
              <a:gd name="connsiteX0-37" fmla="*/ 12192000 w 12192000"/>
              <a:gd name="connsiteY0-38" fmla="*/ 0 h 909447"/>
              <a:gd name="connsiteX1-39" fmla="*/ 12192000 w 12192000"/>
              <a:gd name="connsiteY1-40" fmla="*/ 909447 h 909447"/>
              <a:gd name="connsiteX2-41" fmla="*/ 0 w 12192000"/>
              <a:gd name="connsiteY2-42" fmla="*/ 909447 h 909447"/>
              <a:gd name="connsiteX3-43" fmla="*/ 0 w 12192000"/>
              <a:gd name="connsiteY3-44" fmla="*/ 401788 h 909447"/>
              <a:gd name="connsiteX4-45" fmla="*/ 12192000 w 12192000"/>
              <a:gd name="connsiteY4-46" fmla="*/ 0 h 909447"/>
              <a:gd name="connsiteX0-47" fmla="*/ 12192000 w 12192000"/>
              <a:gd name="connsiteY0-48" fmla="*/ 0 h 909447"/>
              <a:gd name="connsiteX1-49" fmla="*/ 12192000 w 12192000"/>
              <a:gd name="connsiteY1-50" fmla="*/ 909447 h 909447"/>
              <a:gd name="connsiteX2-51" fmla="*/ 0 w 12192000"/>
              <a:gd name="connsiteY2-52" fmla="*/ 909447 h 909447"/>
              <a:gd name="connsiteX3-53" fmla="*/ 0 w 12192000"/>
              <a:gd name="connsiteY3-54" fmla="*/ 401788 h 909447"/>
              <a:gd name="connsiteX4-55" fmla="*/ 12192000 w 12192000"/>
              <a:gd name="connsiteY4-56" fmla="*/ 0 h 9094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909447">
                <a:moveTo>
                  <a:pt x="12192000" y="0"/>
                </a:moveTo>
                <a:lnTo>
                  <a:pt x="12192000" y="909447"/>
                </a:lnTo>
                <a:lnTo>
                  <a:pt x="0" y="909447"/>
                </a:lnTo>
                <a:lnTo>
                  <a:pt x="0" y="401788"/>
                </a:lnTo>
                <a:cubicBezTo>
                  <a:pt x="2540000" y="700478"/>
                  <a:pt x="6289368" y="812355"/>
                  <a:pt x="12192000" y="0"/>
                </a:cubicBezTo>
                <a:close/>
              </a:path>
            </a:pathLst>
          </a:cu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347472" y="329184"/>
            <a:ext cx="493776" cy="493776"/>
          </a:xfrm>
          <a:prstGeom prst="ellipse">
            <a:avLst/>
          </a:pr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676656" y="329184"/>
            <a:ext cx="493776" cy="493776"/>
          </a:xfrm>
          <a:prstGeom prst="ellipse">
            <a:avLst/>
          </a:prstGeom>
          <a:solidFill>
            <a:srgbClr val="36AE02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cxnSp>
        <p:nvCxnSpPr>
          <p:cNvPr id="12" name="直线连接符 11"/>
          <p:cNvCxnSpPr/>
          <p:nvPr>
            <p:custDataLst>
              <p:tags r:id="rId5"/>
            </p:custDataLst>
          </p:nvPr>
        </p:nvCxnSpPr>
        <p:spPr>
          <a:xfrm>
            <a:off x="0" y="989452"/>
            <a:ext cx="12192000" cy="0"/>
          </a:xfrm>
          <a:prstGeom prst="line">
            <a:avLst/>
          </a:prstGeom>
          <a:ln w="25400">
            <a:solidFill>
              <a:srgbClr val="3A7F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017770" y="4711065"/>
            <a:ext cx="42310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solidFill>
                  <a:schemeClr val="bg1"/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  <a:sym typeface="+mn-ea"/>
              </a:rPr>
              <a:t>单击此处输入你的正文</a:t>
            </a:r>
            <a:r>
              <a:rPr lang="en-US" altLang="zh-CN" sz="1400" dirty="0">
                <a:solidFill>
                  <a:schemeClr val="bg1"/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  <a:sym typeface="+mn-ea"/>
              </a:rPr>
              <a:t>,</a:t>
            </a:r>
            <a:r>
              <a:rPr lang="zh-CN" altLang="en-US" sz="1400" dirty="0">
                <a:solidFill>
                  <a:schemeClr val="bg1"/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  <a:sym typeface="+mn-ea"/>
              </a:rPr>
              <a:t>为了最终演示发布的良好效果，请尽量言简意赅的阐述观点。</a:t>
            </a:r>
            <a:endParaRPr lang="zh-CN" altLang="en-US" sz="1400" dirty="0">
              <a:solidFill>
                <a:schemeClr val="bg1"/>
              </a:solidFill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37335" y="1370330"/>
            <a:ext cx="8681720" cy="1198880"/>
            <a:chOff x="1571" y="3070"/>
            <a:chExt cx="13672" cy="1888"/>
          </a:xfrm>
        </p:grpSpPr>
        <p:sp>
          <p:nvSpPr>
            <p:cNvPr id="31" name="圆角矩形 30"/>
            <p:cNvSpPr/>
            <p:nvPr/>
          </p:nvSpPr>
          <p:spPr>
            <a:xfrm>
              <a:off x="6979" y="3070"/>
              <a:ext cx="8265" cy="1888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3A7E15"/>
                </a:gs>
                <a:gs pos="4000">
                  <a:srgbClr val="76BC30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outerShdw blurRad="609600" dist="228600" dir="2700000" algn="tl" rotWithShape="0">
                <a:srgbClr val="3A7F1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53" name="圆角矩形 52"/>
            <p:cNvSpPr/>
            <p:nvPr/>
          </p:nvSpPr>
          <p:spPr>
            <a:xfrm>
              <a:off x="1571" y="3070"/>
              <a:ext cx="7782" cy="1888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3A7E15"/>
                </a:gs>
                <a:gs pos="4000">
                  <a:srgbClr val="76BC30">
                    <a:alpha val="0"/>
                  </a:srgbClr>
                </a:gs>
              </a:gsLst>
              <a:lin ang="10800000" scaled="0"/>
            </a:gradFill>
            <a:ln>
              <a:noFill/>
            </a:ln>
            <a:effectLst>
              <a:outerShdw blurRad="609600" dist="228600" dir="2700000" algn="tl" rotWithShape="0">
                <a:srgbClr val="3A7F1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6"/>
              </p:custDataLst>
            </p:nvPr>
          </p:nvSpPr>
          <p:spPr>
            <a:xfrm>
              <a:off x="2130" y="3070"/>
              <a:ext cx="12778" cy="188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indent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dirty="0">
                  <a:solidFill>
                    <a:schemeClr val="bg1"/>
                  </a:solidFill>
                  <a:latin typeface="汉仪旗黑-75S" panose="00020600040101010101" charset="-122"/>
                  <a:ea typeface="汉仪旗黑-75S" panose="00020600040101010101" charset="-122"/>
                  <a:cs typeface="汉仪旗黑-50简" panose="00020600040101010101" charset="-122"/>
                  <a:sym typeface="+mn-ea"/>
                </a:rPr>
                <a:t>21日龄各组肉鸡体重无显著差异，42日龄时C组体重、日增重显著高于A组，料重比显著低于A组，B组采食量最高但生长性能未显著优于C、D组，表明丁酸钠添加可提高肉鸡生长性能与饲料转化效率，其中C组效果最佳。</a:t>
              </a:r>
              <a:endParaRPr lang="zh-CN" altLang="en-US" sz="1600" dirty="0">
                <a:solidFill>
                  <a:schemeClr val="bg1"/>
                </a:solidFill>
                <a:latin typeface="汉仪旗黑-75S" panose="00020600040101010101" charset="-122"/>
                <a:ea typeface="汉仪旗黑-75S" panose="00020600040101010101" charset="-122"/>
                <a:cs typeface="汉仪旗黑-50简" panose="00020600040101010101" charset="-122"/>
                <a:sym typeface="+mn-ea"/>
              </a:endParaRPr>
            </a:p>
          </p:txBody>
        </p:sp>
      </p:grpSp>
      <p:sp>
        <p:nvSpPr>
          <p:cNvPr id="55" name="文本框 54"/>
          <p:cNvSpPr txBox="1"/>
          <p:nvPr>
            <p:custDataLst>
              <p:tags r:id="rId7"/>
            </p:custDataLst>
          </p:nvPr>
        </p:nvSpPr>
        <p:spPr>
          <a:xfrm>
            <a:off x="1352550" y="3274060"/>
            <a:ext cx="2336800" cy="5530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>
                <a:solidFill>
                  <a:schemeClr val="bg1"/>
                </a:solidFill>
                <a:latin typeface="汉仪旗黑-75S" panose="00020600040101010101" charset="-122"/>
                <a:ea typeface="汉仪旗黑-75S" panose="00020600040101010101" charset="-122"/>
                <a:cs typeface="汉仪旗黑-50简" panose="00020600040101010101" charset="-122"/>
                <a:sym typeface="+mn-ea"/>
              </a:rPr>
              <a:t>单击输入标题</a:t>
            </a:r>
            <a:endParaRPr lang="zh-CN" altLang="en-US" sz="2000" dirty="0">
              <a:solidFill>
                <a:schemeClr val="bg1"/>
              </a:solidFill>
              <a:latin typeface="汉仪旗黑-75S" panose="00020600040101010101" charset="-122"/>
              <a:ea typeface="汉仪旗黑-75S" panose="00020600040101010101" charset="-122"/>
              <a:cs typeface="汉仪旗黑-50简" panose="00020600040101010101" charset="-122"/>
              <a:sym typeface="+mn-ea"/>
            </a:endParaRPr>
          </a:p>
        </p:txBody>
      </p:sp>
      <p:sp>
        <p:nvSpPr>
          <p:cNvPr id="57" name="文本框 56"/>
          <p:cNvSpPr txBox="1"/>
          <p:nvPr>
            <p:custDataLst>
              <p:tags r:id="rId8"/>
            </p:custDataLst>
          </p:nvPr>
        </p:nvSpPr>
        <p:spPr>
          <a:xfrm>
            <a:off x="1352550" y="4679950"/>
            <a:ext cx="2336800" cy="5530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>
                <a:solidFill>
                  <a:schemeClr val="bg1"/>
                </a:solidFill>
                <a:latin typeface="汉仪旗黑-75S" panose="00020600040101010101" charset="-122"/>
                <a:ea typeface="汉仪旗黑-75S" panose="00020600040101010101" charset="-122"/>
                <a:cs typeface="汉仪旗黑-50简" panose="00020600040101010101" charset="-122"/>
                <a:sym typeface="+mn-ea"/>
              </a:rPr>
              <a:t>单击输入标题</a:t>
            </a:r>
            <a:endParaRPr lang="zh-CN" altLang="en-US" sz="2000" dirty="0">
              <a:solidFill>
                <a:schemeClr val="bg1"/>
              </a:solidFill>
              <a:latin typeface="汉仪旗黑-75S" panose="00020600040101010101" charset="-122"/>
              <a:ea typeface="汉仪旗黑-75S" panose="00020600040101010101" charset="-122"/>
              <a:cs typeface="汉仪旗黑-50简" panose="0002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50845" y="2742248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25000"/>
              </a:lnSpc>
              <a:spcAft>
                <a:spcPct val="0"/>
              </a:spcAft>
            </a:pPr>
            <a:r>
              <a:rPr lang="zh-CN" altLang="en-US" sz="1600">
                <a:latin typeface="Times New Roman" panose="02020503050405090304"/>
                <a:ea typeface="宋体"/>
              </a:rPr>
              <a:t>表</a:t>
            </a:r>
            <a:r>
              <a:rPr lang="en-US" altLang="zh-CN" sz="1600">
                <a:latin typeface="Times New Roman" panose="02020503050405090304"/>
                <a:ea typeface="Times New Roman" panose="02020503050405090304"/>
              </a:rPr>
              <a:t>2</a:t>
            </a:r>
            <a:r>
              <a:rPr lang="zh-CN" altLang="en-US" sz="1600">
                <a:latin typeface="Times New Roman" panose="02020503050405090304"/>
                <a:ea typeface="宋体"/>
              </a:rPr>
              <a:t>丁酸钠</a:t>
            </a:r>
            <a:r>
              <a:rPr lang="zh-CN" altLang="en-US" sz="1600">
                <a:latin typeface="宋体"/>
                <a:ea typeface="宋体"/>
              </a:rPr>
              <a:t>对肉鸡</a:t>
            </a:r>
            <a:r>
              <a:rPr lang="zh-CN" altLang="en-US" sz="1600">
                <a:latin typeface="Times New Roman" panose="02020503050405090304"/>
                <a:ea typeface="宋体"/>
              </a:rPr>
              <a:t>生长后期</a:t>
            </a:r>
            <a:r>
              <a:rPr lang="zh-CN" altLang="en-US" sz="1600">
                <a:latin typeface="宋体"/>
                <a:ea typeface="宋体"/>
              </a:rPr>
              <a:t>生长性能的影响</a:t>
            </a:r>
            <a:endParaRPr lang="zh-CN" altLang="en-US" sz="1600">
              <a:latin typeface="宋体"/>
              <a:ea typeface="宋体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9"/>
            </p:custDataLst>
          </p:nvPr>
        </p:nvGraphicFramePr>
        <p:xfrm>
          <a:off x="1753235" y="3324860"/>
          <a:ext cx="8119110" cy="1678305"/>
        </p:xfrm>
        <a:graphic>
          <a:graphicData uri="http://schemas.openxmlformats.org/drawingml/2006/table">
            <a:tbl>
              <a:tblPr/>
              <a:tblGrid>
                <a:gridCol w="1353185"/>
                <a:gridCol w="1353185"/>
                <a:gridCol w="1353185"/>
                <a:gridCol w="1353185"/>
                <a:gridCol w="1353185"/>
                <a:gridCol w="1353185"/>
              </a:tblGrid>
              <a:tr h="20955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项目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组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B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组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C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组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D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组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P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值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0185">
                <a:tc>
                  <a:txBody>
                    <a:bodyPr/>
                    <a:p>
                      <a:pPr marL="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21</a:t>
                      </a: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d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体重</a:t>
                      </a: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/g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1460.45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1510.48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1470.75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1426.45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0.878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marL="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42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d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体重</a:t>
                      </a: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/g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2933.23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3182.25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3213.71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3124.15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0.021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9735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平均日增重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体重</a:t>
                      </a: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/g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70.14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79.62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80.86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80.86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0.018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9735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平均日采食量</a:t>
                      </a:r>
                      <a:r>
                        <a:rPr lang="zh-CN" altLang="en-US" sz="1100">
                          <a:latin typeface="Times New Roman" panose="02020503050405090304"/>
                          <a:ea typeface="宋体"/>
                        </a:rPr>
                        <a:t> 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体重</a:t>
                      </a: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/g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123.452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135.092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119.67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126.95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0.025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料重比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1.76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1.71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1.48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1.57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0.032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352550" y="5142230"/>
            <a:ext cx="9120505" cy="798830"/>
          </a:xfrm>
          <a:prstGeom prst="rect">
            <a:avLst/>
          </a:prstGeom>
        </p:spPr>
        <p:txBody>
          <a:bodyPr wrap="square">
            <a:spAutoFit/>
          </a:bodyPr>
          <a:p>
            <a:endParaRPr lang="en-US" altLang="zh-CN" sz="2600"/>
          </a:p>
          <a:p>
            <a:pPr marL="0" indent="0" algn="just" defTabSz="266700">
              <a:lnSpc>
                <a:spcPct val="125000"/>
              </a:lnSpc>
              <a:spcAft>
                <a:spcPct val="0"/>
              </a:spcAft>
            </a:pPr>
            <a:r>
              <a:rPr lang="zh-CN" altLang="en-US" sz="1600">
                <a:latin typeface="Times New Roman" panose="02020503050405090304"/>
                <a:ea typeface="宋体"/>
              </a:rPr>
              <a:t>注：同行数据肩标不同，小写字母表示差异显著</a:t>
            </a:r>
            <a:r>
              <a:rPr lang="en-US" altLang="zh-CN" sz="1600">
                <a:latin typeface="Times New Roman" panose="02020503050405090304"/>
                <a:ea typeface="Times New Roman" panose="02020503050405090304"/>
              </a:rPr>
              <a:t>(</a:t>
            </a:r>
            <a:r>
              <a:rPr lang="en-US" altLang="zh-CN" sz="1600" i="1">
                <a:latin typeface="Times New Roman" panose="02020503050405090304"/>
                <a:ea typeface="Times New Roman" panose="02020503050405090304"/>
              </a:rPr>
              <a:t>P</a:t>
            </a:r>
            <a:r>
              <a:rPr lang="en-US" altLang="zh-CN" sz="1600">
                <a:latin typeface="Times New Roman" panose="02020503050405090304"/>
                <a:ea typeface="Times New Roman" panose="02020503050405090304"/>
              </a:rPr>
              <a:t>&lt;0.05)</a:t>
            </a:r>
            <a:r>
              <a:rPr lang="zh-CN" altLang="en-US" sz="1600">
                <a:latin typeface="Times New Roman" panose="02020503050405090304"/>
                <a:ea typeface="宋体"/>
              </a:rPr>
              <a:t>，无字母表示差异不显著</a:t>
            </a:r>
            <a:r>
              <a:rPr lang="en-US" altLang="zh-CN" sz="1600">
                <a:latin typeface="Times New Roman" panose="02020503050405090304"/>
                <a:ea typeface="Times New Roman" panose="02020503050405090304"/>
              </a:rPr>
              <a:t>(</a:t>
            </a:r>
            <a:r>
              <a:rPr lang="en-US" altLang="zh-CN" sz="1600" i="1">
                <a:latin typeface="Times New Roman" panose="02020503050405090304"/>
                <a:ea typeface="Times New Roman" panose="02020503050405090304"/>
              </a:rPr>
              <a:t>P</a:t>
            </a:r>
            <a:r>
              <a:rPr lang="en-US" altLang="zh-CN" sz="1600">
                <a:latin typeface="Times New Roman" panose="02020503050405090304"/>
                <a:ea typeface="Times New Roman" panose="02020503050405090304"/>
              </a:rPr>
              <a:t>&gt;0.05)</a:t>
            </a:r>
            <a:r>
              <a:rPr lang="zh-CN" altLang="en-US" sz="1600">
                <a:latin typeface="Times New Roman" panose="02020503050405090304"/>
                <a:ea typeface="宋体"/>
              </a:rPr>
              <a:t>。下表同</a:t>
            </a:r>
            <a:endParaRPr lang="zh-CN" altLang="en-US" sz="1600">
              <a:latin typeface="Times New Roman" panose="02020503050405090304"/>
              <a:ea typeface="宋体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ECF3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352418" y="299740"/>
            <a:ext cx="103346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2.2 日粮添加丁酸钠对肉鸡生长后期血清生化指标的影响</a:t>
            </a:r>
            <a:endParaRPr kumimoji="1" sz="3200" b="1" dirty="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50简" panose="00020600040101010101" charset="-122"/>
              <a:ea typeface="汉仪旗黑-50简" panose="00020600040101010101" charset="-122"/>
            </a:endParaRPr>
          </a:p>
        </p:txBody>
      </p:sp>
      <p:sp>
        <p:nvSpPr>
          <p:cNvPr id="7" name="任意形状 12"/>
          <p:cNvSpPr/>
          <p:nvPr>
            <p:custDataLst>
              <p:tags r:id="rId2"/>
            </p:custDataLst>
          </p:nvPr>
        </p:nvSpPr>
        <p:spPr>
          <a:xfrm>
            <a:off x="0" y="6464698"/>
            <a:ext cx="12192000" cy="393302"/>
          </a:xfrm>
          <a:custGeom>
            <a:avLst/>
            <a:gdLst>
              <a:gd name="connsiteX0" fmla="*/ 12192000 w 12192000"/>
              <a:gd name="connsiteY0" fmla="*/ 0 h 909447"/>
              <a:gd name="connsiteX1" fmla="*/ 12192000 w 12192000"/>
              <a:gd name="connsiteY1" fmla="*/ 909447 h 909447"/>
              <a:gd name="connsiteX2" fmla="*/ 0 w 12192000"/>
              <a:gd name="connsiteY2" fmla="*/ 909447 h 909447"/>
              <a:gd name="connsiteX3" fmla="*/ 0 w 12192000"/>
              <a:gd name="connsiteY3" fmla="*/ 401788 h 909447"/>
              <a:gd name="connsiteX4" fmla="*/ 271475 w 12192000"/>
              <a:gd name="connsiteY4" fmla="*/ 389839 h 909447"/>
              <a:gd name="connsiteX5" fmla="*/ 8190271 w 12192000"/>
              <a:gd name="connsiteY5" fmla="*/ 639060 h 909447"/>
              <a:gd name="connsiteX6" fmla="*/ 12049480 w 12192000"/>
              <a:gd name="connsiteY6" fmla="*/ 34242 h 909447"/>
              <a:gd name="connsiteX0-1" fmla="*/ 12192000 w 12192000"/>
              <a:gd name="connsiteY0-2" fmla="*/ 0 h 909447"/>
              <a:gd name="connsiteX1-3" fmla="*/ 12192000 w 12192000"/>
              <a:gd name="connsiteY1-4" fmla="*/ 909447 h 909447"/>
              <a:gd name="connsiteX2-5" fmla="*/ 0 w 12192000"/>
              <a:gd name="connsiteY2-6" fmla="*/ 909447 h 909447"/>
              <a:gd name="connsiteX3-7" fmla="*/ 0 w 12192000"/>
              <a:gd name="connsiteY3-8" fmla="*/ 401788 h 909447"/>
              <a:gd name="connsiteX4-9" fmla="*/ 8190271 w 12192000"/>
              <a:gd name="connsiteY4-10" fmla="*/ 639060 h 909447"/>
              <a:gd name="connsiteX5-11" fmla="*/ 12049480 w 12192000"/>
              <a:gd name="connsiteY5-12" fmla="*/ 34242 h 909447"/>
              <a:gd name="connsiteX6-13" fmla="*/ 12192000 w 12192000"/>
              <a:gd name="connsiteY6-14" fmla="*/ 0 h 909447"/>
              <a:gd name="connsiteX0-15" fmla="*/ 12192000 w 12192000"/>
              <a:gd name="connsiteY0-16" fmla="*/ 0 h 909447"/>
              <a:gd name="connsiteX1-17" fmla="*/ 12192000 w 12192000"/>
              <a:gd name="connsiteY1-18" fmla="*/ 909447 h 909447"/>
              <a:gd name="connsiteX2-19" fmla="*/ 0 w 12192000"/>
              <a:gd name="connsiteY2-20" fmla="*/ 909447 h 909447"/>
              <a:gd name="connsiteX3-21" fmla="*/ 0 w 12192000"/>
              <a:gd name="connsiteY3-22" fmla="*/ 401788 h 909447"/>
              <a:gd name="connsiteX4-23" fmla="*/ 12049480 w 12192000"/>
              <a:gd name="connsiteY4-24" fmla="*/ 34242 h 909447"/>
              <a:gd name="connsiteX5-25" fmla="*/ 12192000 w 12192000"/>
              <a:gd name="connsiteY5-26" fmla="*/ 0 h 909447"/>
              <a:gd name="connsiteX0-27" fmla="*/ 12192000 w 12192000"/>
              <a:gd name="connsiteY0-28" fmla="*/ 0 h 909447"/>
              <a:gd name="connsiteX1-29" fmla="*/ 12192000 w 12192000"/>
              <a:gd name="connsiteY1-30" fmla="*/ 909447 h 909447"/>
              <a:gd name="connsiteX2-31" fmla="*/ 0 w 12192000"/>
              <a:gd name="connsiteY2-32" fmla="*/ 909447 h 909447"/>
              <a:gd name="connsiteX3-33" fmla="*/ 0 w 12192000"/>
              <a:gd name="connsiteY3-34" fmla="*/ 401788 h 909447"/>
              <a:gd name="connsiteX4-35" fmla="*/ 12192000 w 12192000"/>
              <a:gd name="connsiteY4-36" fmla="*/ 0 h 909447"/>
              <a:gd name="connsiteX0-37" fmla="*/ 12192000 w 12192000"/>
              <a:gd name="connsiteY0-38" fmla="*/ 0 h 909447"/>
              <a:gd name="connsiteX1-39" fmla="*/ 12192000 w 12192000"/>
              <a:gd name="connsiteY1-40" fmla="*/ 909447 h 909447"/>
              <a:gd name="connsiteX2-41" fmla="*/ 0 w 12192000"/>
              <a:gd name="connsiteY2-42" fmla="*/ 909447 h 909447"/>
              <a:gd name="connsiteX3-43" fmla="*/ 0 w 12192000"/>
              <a:gd name="connsiteY3-44" fmla="*/ 401788 h 909447"/>
              <a:gd name="connsiteX4-45" fmla="*/ 12192000 w 12192000"/>
              <a:gd name="connsiteY4-46" fmla="*/ 0 h 909447"/>
              <a:gd name="connsiteX0-47" fmla="*/ 12192000 w 12192000"/>
              <a:gd name="connsiteY0-48" fmla="*/ 0 h 909447"/>
              <a:gd name="connsiteX1-49" fmla="*/ 12192000 w 12192000"/>
              <a:gd name="connsiteY1-50" fmla="*/ 909447 h 909447"/>
              <a:gd name="connsiteX2-51" fmla="*/ 0 w 12192000"/>
              <a:gd name="connsiteY2-52" fmla="*/ 909447 h 909447"/>
              <a:gd name="connsiteX3-53" fmla="*/ 0 w 12192000"/>
              <a:gd name="connsiteY3-54" fmla="*/ 401788 h 909447"/>
              <a:gd name="connsiteX4-55" fmla="*/ 12192000 w 12192000"/>
              <a:gd name="connsiteY4-56" fmla="*/ 0 h 9094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909447">
                <a:moveTo>
                  <a:pt x="12192000" y="0"/>
                </a:moveTo>
                <a:lnTo>
                  <a:pt x="12192000" y="909447"/>
                </a:lnTo>
                <a:lnTo>
                  <a:pt x="0" y="909447"/>
                </a:lnTo>
                <a:lnTo>
                  <a:pt x="0" y="401788"/>
                </a:lnTo>
                <a:cubicBezTo>
                  <a:pt x="2540000" y="700478"/>
                  <a:pt x="6289368" y="812355"/>
                  <a:pt x="12192000" y="0"/>
                </a:cubicBezTo>
                <a:close/>
              </a:path>
            </a:pathLst>
          </a:cu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347472" y="329184"/>
            <a:ext cx="493776" cy="493776"/>
          </a:xfrm>
          <a:prstGeom prst="ellipse">
            <a:avLst/>
          </a:pr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676656" y="329184"/>
            <a:ext cx="493776" cy="493776"/>
          </a:xfrm>
          <a:prstGeom prst="ellipse">
            <a:avLst/>
          </a:prstGeom>
          <a:solidFill>
            <a:srgbClr val="36AE02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cxnSp>
        <p:nvCxnSpPr>
          <p:cNvPr id="12" name="直线连接符 11"/>
          <p:cNvCxnSpPr/>
          <p:nvPr>
            <p:custDataLst>
              <p:tags r:id="rId5"/>
            </p:custDataLst>
          </p:nvPr>
        </p:nvCxnSpPr>
        <p:spPr>
          <a:xfrm>
            <a:off x="0" y="989452"/>
            <a:ext cx="12192000" cy="0"/>
          </a:xfrm>
          <a:prstGeom prst="line">
            <a:avLst/>
          </a:prstGeom>
          <a:ln w="25400">
            <a:solidFill>
              <a:srgbClr val="3A7F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017770" y="4711065"/>
            <a:ext cx="42310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solidFill>
                  <a:schemeClr val="bg1"/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  <a:sym typeface="+mn-ea"/>
              </a:rPr>
              <a:t>单击此处输入你的正文</a:t>
            </a:r>
            <a:r>
              <a:rPr lang="en-US" altLang="zh-CN" sz="1400" dirty="0">
                <a:solidFill>
                  <a:schemeClr val="bg1"/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  <a:sym typeface="+mn-ea"/>
              </a:rPr>
              <a:t>,</a:t>
            </a:r>
            <a:r>
              <a:rPr lang="zh-CN" altLang="en-US" sz="1400" dirty="0">
                <a:solidFill>
                  <a:schemeClr val="bg1"/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  <a:sym typeface="+mn-ea"/>
              </a:rPr>
              <a:t>为了最终演示发布的良好效果，请尽量言简意赅的阐述观点。</a:t>
            </a:r>
            <a:endParaRPr lang="zh-CN" altLang="en-US" sz="1400" dirty="0">
              <a:solidFill>
                <a:schemeClr val="bg1"/>
              </a:solidFill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7345" y="1347470"/>
            <a:ext cx="11188700" cy="1600200"/>
            <a:chOff x="-303" y="3034"/>
            <a:chExt cx="17620" cy="2520"/>
          </a:xfrm>
        </p:grpSpPr>
        <p:sp>
          <p:nvSpPr>
            <p:cNvPr id="31" name="圆角矩形 30"/>
            <p:cNvSpPr/>
            <p:nvPr/>
          </p:nvSpPr>
          <p:spPr>
            <a:xfrm>
              <a:off x="6979" y="3070"/>
              <a:ext cx="10338" cy="2484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3A7E15"/>
                </a:gs>
                <a:gs pos="4000">
                  <a:srgbClr val="76BC30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outerShdw blurRad="609600" dist="228600" dir="2700000" algn="tl" rotWithShape="0">
                <a:srgbClr val="3A7F1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53" name="圆角矩形 52"/>
            <p:cNvSpPr/>
            <p:nvPr/>
          </p:nvSpPr>
          <p:spPr>
            <a:xfrm>
              <a:off x="-303" y="3070"/>
              <a:ext cx="9656" cy="2471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3A7E15"/>
                </a:gs>
                <a:gs pos="4000">
                  <a:srgbClr val="76BC30">
                    <a:alpha val="0"/>
                  </a:srgbClr>
                </a:gs>
              </a:gsLst>
              <a:lin ang="10800000" scaled="0"/>
            </a:gradFill>
            <a:ln>
              <a:noFill/>
            </a:ln>
            <a:effectLst>
              <a:outerShdw blurRad="609600" dist="228600" dir="2700000" algn="tl" rotWithShape="0">
                <a:srgbClr val="3A7F1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6"/>
              </p:custDataLst>
            </p:nvPr>
          </p:nvSpPr>
          <p:spPr>
            <a:xfrm>
              <a:off x="216" y="3034"/>
              <a:ext cx="17101" cy="247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indent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dirty="0">
                  <a:solidFill>
                    <a:schemeClr val="bg1"/>
                  </a:solidFill>
                  <a:latin typeface="汉仪旗黑-75S" panose="00020600040101010101" charset="-122"/>
                  <a:ea typeface="汉仪旗黑-75S" panose="00020600040101010101" charset="-122"/>
                  <a:cs typeface="汉仪旗黑-50简" panose="00020600040101010101" charset="-122"/>
                  <a:sym typeface="+mn-ea"/>
                </a:rPr>
                <a:t>A组、B组、C组、D组总蛋白、球蛋白、总胆固醇及高密度脂蛋白水平无显著差异，而白蛋白、甘油三酯和低密度脂蛋白水平差异显著：B、C、D组白蛋白水平显著高于A组，其中D组效果最佳；B组甘油三酯水平显著高于A组，C、D组略高于A组；B、C、D组低密度脂蛋白水平显著高于A组，C组效果较明显，表明丁酸钠添加对肉鸡血清白蛋白、甘油三酯及低密度脂蛋白代谢有一定影响。</a:t>
              </a:r>
              <a:endParaRPr lang="zh-CN" altLang="en-US" sz="1600" dirty="0">
                <a:solidFill>
                  <a:schemeClr val="bg1"/>
                </a:solidFill>
                <a:latin typeface="汉仪旗黑-75S" panose="00020600040101010101" charset="-122"/>
                <a:ea typeface="汉仪旗黑-75S" panose="00020600040101010101" charset="-122"/>
                <a:cs typeface="汉仪旗黑-50简" panose="00020600040101010101" charset="-122"/>
                <a:sym typeface="+mn-ea"/>
              </a:endParaRPr>
            </a:p>
          </p:txBody>
        </p:sp>
      </p:grpSp>
      <p:sp>
        <p:nvSpPr>
          <p:cNvPr id="55" name="文本框 54"/>
          <p:cNvSpPr txBox="1"/>
          <p:nvPr>
            <p:custDataLst>
              <p:tags r:id="rId7"/>
            </p:custDataLst>
          </p:nvPr>
        </p:nvSpPr>
        <p:spPr>
          <a:xfrm>
            <a:off x="1352550" y="3274060"/>
            <a:ext cx="2336800" cy="5530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>
                <a:solidFill>
                  <a:schemeClr val="bg1"/>
                </a:solidFill>
                <a:latin typeface="汉仪旗黑-75S" panose="00020600040101010101" charset="-122"/>
                <a:ea typeface="汉仪旗黑-75S" panose="00020600040101010101" charset="-122"/>
                <a:cs typeface="汉仪旗黑-50简" panose="00020600040101010101" charset="-122"/>
                <a:sym typeface="+mn-ea"/>
              </a:rPr>
              <a:t>单击输入标题</a:t>
            </a:r>
            <a:endParaRPr lang="zh-CN" altLang="en-US" sz="2000" dirty="0">
              <a:solidFill>
                <a:schemeClr val="bg1"/>
              </a:solidFill>
              <a:latin typeface="汉仪旗黑-75S" panose="00020600040101010101" charset="-122"/>
              <a:ea typeface="汉仪旗黑-75S" panose="00020600040101010101" charset="-122"/>
              <a:cs typeface="汉仪旗黑-50简" panose="00020600040101010101" charset="-122"/>
              <a:sym typeface="+mn-ea"/>
            </a:endParaRPr>
          </a:p>
        </p:txBody>
      </p:sp>
      <p:sp>
        <p:nvSpPr>
          <p:cNvPr id="57" name="文本框 56"/>
          <p:cNvSpPr txBox="1"/>
          <p:nvPr>
            <p:custDataLst>
              <p:tags r:id="rId8"/>
            </p:custDataLst>
          </p:nvPr>
        </p:nvSpPr>
        <p:spPr>
          <a:xfrm>
            <a:off x="1352550" y="4679950"/>
            <a:ext cx="2336800" cy="5530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>
                <a:solidFill>
                  <a:schemeClr val="bg1"/>
                </a:solidFill>
                <a:latin typeface="汉仪旗黑-75S" panose="00020600040101010101" charset="-122"/>
                <a:ea typeface="汉仪旗黑-75S" panose="00020600040101010101" charset="-122"/>
                <a:cs typeface="汉仪旗黑-50简" panose="00020600040101010101" charset="-122"/>
                <a:sym typeface="+mn-ea"/>
              </a:rPr>
              <a:t>单击输入标题</a:t>
            </a:r>
            <a:endParaRPr lang="zh-CN" altLang="en-US" sz="2000" dirty="0">
              <a:solidFill>
                <a:schemeClr val="bg1"/>
              </a:solidFill>
              <a:latin typeface="汉仪旗黑-75S" panose="00020600040101010101" charset="-122"/>
              <a:ea typeface="汉仪旗黑-75S" panose="00020600040101010101" charset="-122"/>
              <a:cs typeface="汉仪旗黑-50简" panose="0002060004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00985" y="3161665"/>
            <a:ext cx="644779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25000"/>
              </a:lnSpc>
              <a:spcAft>
                <a:spcPct val="0"/>
              </a:spcAft>
            </a:pPr>
            <a:r>
              <a:rPr lang="zh-CN" altLang="en-US" sz="1600">
                <a:latin typeface="Times New Roman" panose="02020503050405090304"/>
                <a:ea typeface="宋体"/>
              </a:rPr>
              <a:t>表</a:t>
            </a:r>
            <a:r>
              <a:rPr lang="en-US" altLang="zh-CN" sz="1600">
                <a:latin typeface="Times New Roman" panose="02020503050405090304"/>
                <a:ea typeface="Times New Roman" panose="02020503050405090304"/>
              </a:rPr>
              <a:t>3</a:t>
            </a:r>
            <a:r>
              <a:rPr lang="zh-CN" altLang="en-US" sz="1600">
                <a:latin typeface="宋体"/>
                <a:ea typeface="宋体"/>
              </a:rPr>
              <a:t>短链脂肪酸</a:t>
            </a:r>
            <a:r>
              <a:rPr lang="zh-CN" altLang="en-US" sz="1600">
                <a:latin typeface="Times New Roman" panose="02020503050405090304"/>
                <a:ea typeface="宋体"/>
              </a:rPr>
              <a:t>丁酸钠</a:t>
            </a:r>
            <a:r>
              <a:rPr lang="zh-CN" altLang="en-US" sz="1600">
                <a:latin typeface="宋体"/>
                <a:ea typeface="宋体"/>
              </a:rPr>
              <a:t>对肉鸡</a:t>
            </a:r>
            <a:r>
              <a:rPr lang="zh-CN" altLang="en-US" sz="1600">
                <a:latin typeface="Times New Roman" panose="02020503050405090304"/>
                <a:ea typeface="宋体"/>
              </a:rPr>
              <a:t>生长后期</a:t>
            </a:r>
            <a:r>
              <a:rPr lang="zh-CN" altLang="en-US" sz="1600">
                <a:latin typeface="宋体"/>
                <a:ea typeface="宋体"/>
              </a:rPr>
              <a:t>血清生化指标的影响</a:t>
            </a:r>
            <a:endParaRPr lang="zh-CN" altLang="en-US" sz="1600">
              <a:latin typeface="宋体"/>
              <a:ea typeface="宋体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841375" y="3852228"/>
          <a:ext cx="10483850" cy="0"/>
        </p:xfrm>
        <a:graphic>
          <a:graphicData uri="http://schemas.openxmlformats.org/drawingml/2006/table">
            <a:tbl>
              <a:tblPr/>
              <a:tblGrid>
                <a:gridCol w="2143125"/>
                <a:gridCol w="1792605"/>
                <a:gridCol w="1612265"/>
                <a:gridCol w="1790700"/>
                <a:gridCol w="1612265"/>
                <a:gridCol w="1532890"/>
              </a:tblGrid>
              <a:tr h="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/>
                          <a:ea typeface="宋体"/>
                        </a:rPr>
                        <a:t>项目</a:t>
                      </a:r>
                      <a:endParaRPr lang="zh-CN" sz="110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组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B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组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C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组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D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组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P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值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总蛋白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/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（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g/L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）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27.45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29.43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28.55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26.45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0.672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白蛋白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/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（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g/L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）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15.87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19.87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19.77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26670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21.89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0.034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球蛋白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/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（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g/L</a:t>
                      </a: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）</a:t>
                      </a:r>
                      <a:endParaRPr 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13.23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14.23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13.13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15.03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0.154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总胆固醇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/mmol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5.22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5.42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5.32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5.12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0.251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甘油三酯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/mmol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1.26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1.46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1.41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1.36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0.021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高密度脂蛋白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/mmol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2.42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2.31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2.43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2.44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0.317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503050405090304"/>
                          <a:ea typeface="宋体"/>
                        </a:rPr>
                        <a:t>低密度脂蛋白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/mmol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0.89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1.39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1.49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1.27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0.019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9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ECF3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352418" y="299740"/>
            <a:ext cx="952055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2.3 日粮添加丁酸钠对肉鸡生长后期肠道形态的影响</a:t>
            </a:r>
            <a:endParaRPr kumimoji="1" sz="3200" b="1" dirty="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50简" panose="00020600040101010101" charset="-122"/>
              <a:ea typeface="汉仪旗黑-50简" panose="00020600040101010101" charset="-122"/>
            </a:endParaRPr>
          </a:p>
        </p:txBody>
      </p:sp>
      <p:sp>
        <p:nvSpPr>
          <p:cNvPr id="7" name="任意形状 12"/>
          <p:cNvSpPr/>
          <p:nvPr>
            <p:custDataLst>
              <p:tags r:id="rId2"/>
            </p:custDataLst>
          </p:nvPr>
        </p:nvSpPr>
        <p:spPr>
          <a:xfrm>
            <a:off x="0" y="6464698"/>
            <a:ext cx="12192000" cy="393302"/>
          </a:xfrm>
          <a:custGeom>
            <a:avLst/>
            <a:gdLst>
              <a:gd name="connsiteX0" fmla="*/ 12192000 w 12192000"/>
              <a:gd name="connsiteY0" fmla="*/ 0 h 909447"/>
              <a:gd name="connsiteX1" fmla="*/ 12192000 w 12192000"/>
              <a:gd name="connsiteY1" fmla="*/ 909447 h 909447"/>
              <a:gd name="connsiteX2" fmla="*/ 0 w 12192000"/>
              <a:gd name="connsiteY2" fmla="*/ 909447 h 909447"/>
              <a:gd name="connsiteX3" fmla="*/ 0 w 12192000"/>
              <a:gd name="connsiteY3" fmla="*/ 401788 h 909447"/>
              <a:gd name="connsiteX4" fmla="*/ 271475 w 12192000"/>
              <a:gd name="connsiteY4" fmla="*/ 389839 h 909447"/>
              <a:gd name="connsiteX5" fmla="*/ 8190271 w 12192000"/>
              <a:gd name="connsiteY5" fmla="*/ 639060 h 909447"/>
              <a:gd name="connsiteX6" fmla="*/ 12049480 w 12192000"/>
              <a:gd name="connsiteY6" fmla="*/ 34242 h 909447"/>
              <a:gd name="connsiteX0-1" fmla="*/ 12192000 w 12192000"/>
              <a:gd name="connsiteY0-2" fmla="*/ 0 h 909447"/>
              <a:gd name="connsiteX1-3" fmla="*/ 12192000 w 12192000"/>
              <a:gd name="connsiteY1-4" fmla="*/ 909447 h 909447"/>
              <a:gd name="connsiteX2-5" fmla="*/ 0 w 12192000"/>
              <a:gd name="connsiteY2-6" fmla="*/ 909447 h 909447"/>
              <a:gd name="connsiteX3-7" fmla="*/ 0 w 12192000"/>
              <a:gd name="connsiteY3-8" fmla="*/ 401788 h 909447"/>
              <a:gd name="connsiteX4-9" fmla="*/ 8190271 w 12192000"/>
              <a:gd name="connsiteY4-10" fmla="*/ 639060 h 909447"/>
              <a:gd name="connsiteX5-11" fmla="*/ 12049480 w 12192000"/>
              <a:gd name="connsiteY5-12" fmla="*/ 34242 h 909447"/>
              <a:gd name="connsiteX6-13" fmla="*/ 12192000 w 12192000"/>
              <a:gd name="connsiteY6-14" fmla="*/ 0 h 909447"/>
              <a:gd name="connsiteX0-15" fmla="*/ 12192000 w 12192000"/>
              <a:gd name="connsiteY0-16" fmla="*/ 0 h 909447"/>
              <a:gd name="connsiteX1-17" fmla="*/ 12192000 w 12192000"/>
              <a:gd name="connsiteY1-18" fmla="*/ 909447 h 909447"/>
              <a:gd name="connsiteX2-19" fmla="*/ 0 w 12192000"/>
              <a:gd name="connsiteY2-20" fmla="*/ 909447 h 909447"/>
              <a:gd name="connsiteX3-21" fmla="*/ 0 w 12192000"/>
              <a:gd name="connsiteY3-22" fmla="*/ 401788 h 909447"/>
              <a:gd name="connsiteX4-23" fmla="*/ 12049480 w 12192000"/>
              <a:gd name="connsiteY4-24" fmla="*/ 34242 h 909447"/>
              <a:gd name="connsiteX5-25" fmla="*/ 12192000 w 12192000"/>
              <a:gd name="connsiteY5-26" fmla="*/ 0 h 909447"/>
              <a:gd name="connsiteX0-27" fmla="*/ 12192000 w 12192000"/>
              <a:gd name="connsiteY0-28" fmla="*/ 0 h 909447"/>
              <a:gd name="connsiteX1-29" fmla="*/ 12192000 w 12192000"/>
              <a:gd name="connsiteY1-30" fmla="*/ 909447 h 909447"/>
              <a:gd name="connsiteX2-31" fmla="*/ 0 w 12192000"/>
              <a:gd name="connsiteY2-32" fmla="*/ 909447 h 909447"/>
              <a:gd name="connsiteX3-33" fmla="*/ 0 w 12192000"/>
              <a:gd name="connsiteY3-34" fmla="*/ 401788 h 909447"/>
              <a:gd name="connsiteX4-35" fmla="*/ 12192000 w 12192000"/>
              <a:gd name="connsiteY4-36" fmla="*/ 0 h 909447"/>
              <a:gd name="connsiteX0-37" fmla="*/ 12192000 w 12192000"/>
              <a:gd name="connsiteY0-38" fmla="*/ 0 h 909447"/>
              <a:gd name="connsiteX1-39" fmla="*/ 12192000 w 12192000"/>
              <a:gd name="connsiteY1-40" fmla="*/ 909447 h 909447"/>
              <a:gd name="connsiteX2-41" fmla="*/ 0 w 12192000"/>
              <a:gd name="connsiteY2-42" fmla="*/ 909447 h 909447"/>
              <a:gd name="connsiteX3-43" fmla="*/ 0 w 12192000"/>
              <a:gd name="connsiteY3-44" fmla="*/ 401788 h 909447"/>
              <a:gd name="connsiteX4-45" fmla="*/ 12192000 w 12192000"/>
              <a:gd name="connsiteY4-46" fmla="*/ 0 h 909447"/>
              <a:gd name="connsiteX0-47" fmla="*/ 12192000 w 12192000"/>
              <a:gd name="connsiteY0-48" fmla="*/ 0 h 909447"/>
              <a:gd name="connsiteX1-49" fmla="*/ 12192000 w 12192000"/>
              <a:gd name="connsiteY1-50" fmla="*/ 909447 h 909447"/>
              <a:gd name="connsiteX2-51" fmla="*/ 0 w 12192000"/>
              <a:gd name="connsiteY2-52" fmla="*/ 909447 h 909447"/>
              <a:gd name="connsiteX3-53" fmla="*/ 0 w 12192000"/>
              <a:gd name="connsiteY3-54" fmla="*/ 401788 h 909447"/>
              <a:gd name="connsiteX4-55" fmla="*/ 12192000 w 12192000"/>
              <a:gd name="connsiteY4-56" fmla="*/ 0 h 9094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909447">
                <a:moveTo>
                  <a:pt x="12192000" y="0"/>
                </a:moveTo>
                <a:lnTo>
                  <a:pt x="12192000" y="909447"/>
                </a:lnTo>
                <a:lnTo>
                  <a:pt x="0" y="909447"/>
                </a:lnTo>
                <a:lnTo>
                  <a:pt x="0" y="401788"/>
                </a:lnTo>
                <a:cubicBezTo>
                  <a:pt x="2540000" y="700478"/>
                  <a:pt x="6289368" y="812355"/>
                  <a:pt x="12192000" y="0"/>
                </a:cubicBezTo>
                <a:close/>
              </a:path>
            </a:pathLst>
          </a:cu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347472" y="329184"/>
            <a:ext cx="493776" cy="493776"/>
          </a:xfrm>
          <a:prstGeom prst="ellipse">
            <a:avLst/>
          </a:pr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676656" y="329184"/>
            <a:ext cx="493776" cy="493776"/>
          </a:xfrm>
          <a:prstGeom prst="ellipse">
            <a:avLst/>
          </a:prstGeom>
          <a:solidFill>
            <a:srgbClr val="36AE02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cxnSp>
        <p:nvCxnSpPr>
          <p:cNvPr id="12" name="直线连接符 11"/>
          <p:cNvCxnSpPr/>
          <p:nvPr>
            <p:custDataLst>
              <p:tags r:id="rId5"/>
            </p:custDataLst>
          </p:nvPr>
        </p:nvCxnSpPr>
        <p:spPr>
          <a:xfrm>
            <a:off x="0" y="989452"/>
            <a:ext cx="12192000" cy="0"/>
          </a:xfrm>
          <a:prstGeom prst="line">
            <a:avLst/>
          </a:prstGeom>
          <a:ln w="25400">
            <a:solidFill>
              <a:srgbClr val="3A7F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676275" y="1336675"/>
            <a:ext cx="10205720" cy="1217930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p>
            <a: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19020" y="2651760"/>
            <a:ext cx="688149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25000"/>
              </a:lnSpc>
              <a:spcAft>
                <a:spcPct val="0"/>
              </a:spcAft>
            </a:pPr>
            <a:r>
              <a:rPr lang="zh-CN" altLang="en-US" sz="1600">
                <a:latin typeface="Times New Roman" panose="02020503050405090304"/>
                <a:ea typeface="宋体"/>
              </a:rPr>
              <a:t>表</a:t>
            </a:r>
            <a:r>
              <a:rPr lang="en-US" altLang="zh-CN" sz="1600">
                <a:latin typeface="Times New Roman" panose="02020503050405090304"/>
                <a:ea typeface="Times New Roman" panose="02020503050405090304"/>
              </a:rPr>
              <a:t>4</a:t>
            </a:r>
            <a:r>
              <a:rPr lang="zh-CN" altLang="en-US" sz="1600">
                <a:latin typeface="宋体"/>
                <a:ea typeface="宋体"/>
              </a:rPr>
              <a:t>短链脂肪酸对肉鸡</a:t>
            </a:r>
            <a:r>
              <a:rPr lang="zh-CN" altLang="en-US" sz="1600">
                <a:latin typeface="Times New Roman" panose="02020503050405090304"/>
                <a:ea typeface="宋体"/>
              </a:rPr>
              <a:t>生长后期</a:t>
            </a:r>
            <a:r>
              <a:rPr lang="zh-CN" altLang="en-US" sz="1600">
                <a:latin typeface="宋体"/>
                <a:ea typeface="宋体"/>
              </a:rPr>
              <a:t>肠道形态的影响</a:t>
            </a:r>
            <a:endParaRPr lang="zh-CN" altLang="en-US" sz="1600">
              <a:latin typeface="宋体"/>
              <a:ea typeface="宋体"/>
            </a:endParaRPr>
          </a:p>
        </p:txBody>
      </p:sp>
      <p:graphicFrame>
        <p:nvGraphicFramePr>
          <p:cNvPr id="14" name="表格 13"/>
          <p:cNvGraphicFramePr/>
          <p:nvPr>
            <p:custDataLst>
              <p:tags r:id="rId7"/>
            </p:custDataLst>
          </p:nvPr>
        </p:nvGraphicFramePr>
        <p:xfrm>
          <a:off x="840740" y="3147695"/>
          <a:ext cx="10462260" cy="2765425"/>
        </p:xfrm>
        <a:graphic>
          <a:graphicData uri="http://schemas.openxmlformats.org/drawingml/2006/table">
            <a:tbl>
              <a:tblPr/>
              <a:tblGrid>
                <a:gridCol w="1743710"/>
                <a:gridCol w="1743710"/>
                <a:gridCol w="1743710"/>
                <a:gridCol w="1743710"/>
                <a:gridCol w="1743710"/>
                <a:gridCol w="1743710"/>
              </a:tblGrid>
              <a:tr h="212725"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/>
                          <a:ea typeface="宋体"/>
                        </a:rPr>
                        <a:t>项目</a:t>
                      </a:r>
                      <a:endParaRPr lang="zh-CN" sz="110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A</a:t>
                      </a:r>
                      <a:r>
                        <a:rPr lang="zh-CN" sz="1100">
                          <a:latin typeface="宋体"/>
                          <a:ea typeface="宋体"/>
                        </a:rPr>
                        <a:t>组</a:t>
                      </a:r>
                      <a:endParaRPr lang="zh-CN" sz="110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B</a:t>
                      </a:r>
                      <a:r>
                        <a:rPr lang="zh-CN" sz="1100">
                          <a:latin typeface="宋体"/>
                          <a:ea typeface="宋体"/>
                        </a:rPr>
                        <a:t>组</a:t>
                      </a:r>
                      <a:endParaRPr lang="zh-CN" sz="110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C</a:t>
                      </a:r>
                      <a:r>
                        <a:rPr lang="zh-CN" sz="1100">
                          <a:latin typeface="宋体"/>
                          <a:ea typeface="宋体"/>
                        </a:rPr>
                        <a:t>组</a:t>
                      </a:r>
                      <a:endParaRPr lang="zh-CN" sz="110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D</a:t>
                      </a:r>
                      <a:r>
                        <a:rPr lang="zh-CN" sz="1100">
                          <a:latin typeface="宋体"/>
                          <a:ea typeface="宋体"/>
                        </a:rPr>
                        <a:t>组</a:t>
                      </a:r>
                      <a:endParaRPr lang="zh-CN" sz="110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P</a:t>
                      </a:r>
                      <a:r>
                        <a:rPr lang="zh-CN" sz="1100">
                          <a:latin typeface="宋体"/>
                          <a:ea typeface="宋体"/>
                        </a:rPr>
                        <a:t>值</a:t>
                      </a:r>
                      <a:endParaRPr lang="zh-CN" sz="110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2725"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/>
                          <a:ea typeface="宋体"/>
                        </a:rPr>
                        <a:t>十二指肠</a:t>
                      </a:r>
                      <a:endParaRPr lang="zh-CN" sz="110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12725">
                <a:tc>
                  <a:txBody>
                    <a:bodyPr/>
                    <a:p>
                      <a:pPr marL="68580" indent="66675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/>
                          <a:ea typeface="宋体"/>
                        </a:rPr>
                        <a:t>绒毛高度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/um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1513.67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1583.35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1752.67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1748.67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0.021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2725">
                <a:tc>
                  <a:txBody>
                    <a:bodyPr/>
                    <a:p>
                      <a:pPr marL="68580" indent="66675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/>
                          <a:ea typeface="宋体"/>
                        </a:rPr>
                        <a:t>隐窝深度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/um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246.52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252.76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278.65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268.38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0.031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2725">
                <a:tc>
                  <a:txBody>
                    <a:bodyPr/>
                    <a:p>
                      <a:pPr marL="68580" indent="66675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/>
                          <a:ea typeface="宋体"/>
                        </a:rPr>
                        <a:t>绒隐比</a:t>
                      </a:r>
                      <a:endParaRPr lang="zh-CN" sz="110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6.15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6.28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6.30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6.52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0.076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2725"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/>
                          <a:ea typeface="宋体"/>
                        </a:rPr>
                        <a:t>空肠</a:t>
                      </a:r>
                      <a:endParaRPr lang="zh-CN" sz="110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2725">
                <a:tc>
                  <a:txBody>
                    <a:bodyPr/>
                    <a:p>
                      <a:pPr marL="68580" indent="66675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/>
                          <a:ea typeface="宋体"/>
                        </a:rPr>
                        <a:t>绒毛高度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/um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1313.34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1578.23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1682.98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1592.98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0.019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2725">
                <a:tc>
                  <a:txBody>
                    <a:bodyPr/>
                    <a:p>
                      <a:pPr marL="68580" indent="66675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/>
                          <a:ea typeface="宋体"/>
                        </a:rPr>
                        <a:t>隐窝深度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/um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180.12b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223.73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225.83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218.23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0.031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2725">
                <a:tc>
                  <a:txBody>
                    <a:bodyPr/>
                    <a:p>
                      <a:pPr marL="68580" indent="66675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/>
                          <a:ea typeface="宋体"/>
                        </a:rPr>
                        <a:t>绒隐比</a:t>
                      </a:r>
                      <a:endParaRPr lang="zh-CN" sz="110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7.29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7.08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7.48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7.30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0.089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2725"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/>
                          <a:ea typeface="宋体"/>
                        </a:rPr>
                        <a:t>回肠</a:t>
                      </a:r>
                      <a:endParaRPr lang="zh-CN" sz="110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宋体"/>
                        </a:rPr>
                        <a:t> </a:t>
                      </a:r>
                      <a:endParaRPr lang="en-US" altLang="zh-CN" sz="110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2725">
                <a:tc>
                  <a:txBody>
                    <a:bodyPr/>
                    <a:p>
                      <a:pPr marL="68580" indent="66675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/>
                          <a:ea typeface="宋体"/>
                        </a:rPr>
                        <a:t>绒毛高度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/um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1228.40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1183.27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1267.28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1264.39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0.164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2725">
                <a:tc>
                  <a:txBody>
                    <a:bodyPr/>
                    <a:p>
                      <a:pPr marL="68580" indent="66675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/>
                          <a:ea typeface="宋体"/>
                        </a:rPr>
                        <a:t>隐窝深度</a:t>
                      </a: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/um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181.89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192.45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182.34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179.23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0.082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2725">
                <a:tc>
                  <a:txBody>
                    <a:bodyPr/>
                    <a:p>
                      <a:pPr marL="68580" indent="66675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/>
                          <a:ea typeface="宋体"/>
                        </a:rPr>
                        <a:t>绒隐比</a:t>
                      </a:r>
                      <a:endParaRPr lang="zh-CN" sz="110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6.78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6.16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6.96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a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7.06</a:t>
                      </a:r>
                      <a:r>
                        <a:rPr lang="en-US" altLang="zh-CN" sz="1100" baseline="30000">
                          <a:latin typeface="Times New Roman" panose="02020503050405090304"/>
                          <a:ea typeface="Times New Roman" panose="02020503050405090304"/>
                        </a:rPr>
                        <a:t>b</a:t>
                      </a:r>
                      <a:endParaRPr lang="en-US" altLang="zh-CN" sz="1100" baseline="300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503050405090304"/>
                          <a:ea typeface="Times New Roman" panose="02020503050405090304"/>
                        </a:rPr>
                        <a:t>0.043</a:t>
                      </a:r>
                      <a:endParaRPr lang="en-US" altLang="zh-CN" sz="110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347345" y="1095375"/>
            <a:ext cx="11188700" cy="1600200"/>
            <a:chOff x="-303" y="3034"/>
            <a:chExt cx="17620" cy="2520"/>
          </a:xfrm>
        </p:grpSpPr>
        <p:sp>
          <p:nvSpPr>
            <p:cNvPr id="31" name="圆角矩形 30"/>
            <p:cNvSpPr/>
            <p:nvPr>
              <p:custDataLst>
                <p:tags r:id="rId8"/>
              </p:custDataLst>
            </p:nvPr>
          </p:nvSpPr>
          <p:spPr>
            <a:xfrm>
              <a:off x="6979" y="3070"/>
              <a:ext cx="10338" cy="2484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3A7E15"/>
                </a:gs>
                <a:gs pos="4000">
                  <a:srgbClr val="76BC30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outerShdw blurRad="609600" dist="228600" dir="2700000" algn="tl" rotWithShape="0">
                <a:srgbClr val="3A7F1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53" name="圆角矩形 52"/>
            <p:cNvSpPr/>
            <p:nvPr>
              <p:custDataLst>
                <p:tags r:id="rId9"/>
              </p:custDataLst>
            </p:nvPr>
          </p:nvSpPr>
          <p:spPr>
            <a:xfrm>
              <a:off x="-303" y="3070"/>
              <a:ext cx="9656" cy="2471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3A7E15"/>
                </a:gs>
                <a:gs pos="4000">
                  <a:srgbClr val="76BC30">
                    <a:alpha val="0"/>
                  </a:srgbClr>
                </a:gs>
              </a:gsLst>
              <a:lin ang="10800000" scaled="0"/>
            </a:gradFill>
            <a:ln>
              <a:noFill/>
            </a:ln>
            <a:effectLst>
              <a:outerShdw blurRad="609600" dist="228600" dir="2700000" algn="tl" rotWithShape="0">
                <a:srgbClr val="3A7F1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10"/>
              </p:custDataLst>
            </p:nvPr>
          </p:nvSpPr>
          <p:spPr>
            <a:xfrm>
              <a:off x="216" y="3034"/>
              <a:ext cx="17101" cy="247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indent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dirty="0">
                  <a:solidFill>
                    <a:schemeClr val="bg1"/>
                  </a:solidFill>
                  <a:latin typeface="汉仪旗黑-75S" panose="00020600040101010101" charset="-122"/>
                  <a:ea typeface="汉仪旗黑-75S" panose="00020600040101010101" charset="-122"/>
                  <a:cs typeface="汉仪旗黑-50简" panose="00020600040101010101" charset="-122"/>
                  <a:sym typeface="+mn-ea"/>
                </a:rPr>
                <a:t>日粮添加丁酸钠对肉鸡生长后期肠道形态影响存在肠段差异，C、D组十二指肠绒毛高度显著高于A、B组，C组隐窝深度最深，D组绒隐比数值最高；B、C、D组空肠绒毛高度显著高于A组，隐窝深度显著加深，C组绒隐比最高，A、C组空肠绒隐比显著高于B组，D组最高；回肠绒毛高度与隐窝深度无显著差异，整体表明500 - 750 mg/kg丁酸钠添加对十二指肠和空肠形态学改善效果显著，可能存在剂量依赖性调节作用。</a:t>
              </a:r>
              <a:endParaRPr lang="zh-CN" altLang="en-US" sz="1600" dirty="0">
                <a:solidFill>
                  <a:schemeClr val="bg1"/>
                </a:solidFill>
                <a:latin typeface="汉仪旗黑-75S" panose="00020600040101010101" charset="-122"/>
                <a:ea typeface="汉仪旗黑-75S" panose="00020600040101010101" charset="-122"/>
                <a:cs typeface="汉仪旗黑-50简" panose="00020600040101010101" charset="-122"/>
                <a:sym typeface="+mn-ea"/>
              </a:endParaRPr>
            </a:p>
          </p:txBody>
        </p:sp>
      </p:grpSp>
    </p:spTree>
    <p:custDataLst>
      <p:tags r:id="rId1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>
            <a:off x="0" y="0"/>
            <a:ext cx="513524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87" h="10800">
                <a:moveTo>
                  <a:pt x="0" y="0"/>
                </a:moveTo>
                <a:lnTo>
                  <a:pt x="7089" y="0"/>
                </a:lnTo>
                <a:lnTo>
                  <a:pt x="7124" y="66"/>
                </a:lnTo>
                <a:cubicBezTo>
                  <a:pt x="7739" y="1232"/>
                  <a:pt x="8087" y="2560"/>
                  <a:pt x="8087" y="3969"/>
                </a:cubicBezTo>
                <a:cubicBezTo>
                  <a:pt x="8087" y="6788"/>
                  <a:pt x="6695" y="9281"/>
                  <a:pt x="4560" y="10799"/>
                </a:cubicBezTo>
                <a:lnTo>
                  <a:pt x="4559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71245" y="2248535"/>
            <a:ext cx="100850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sz="7200" cap="all">
                <a:gradFill>
                  <a:gsLst>
                    <a:gs pos="0">
                      <a:srgbClr val="50AD1D">
                        <a:alpha val="100000"/>
                      </a:srgbClr>
                    </a:gs>
                    <a:gs pos="100000">
                      <a:srgbClr val="224B0C">
                        <a:alpha val="100000"/>
                      </a:srgbClr>
                    </a:gs>
                  </a:gsLst>
                  <a:lin ang="5400000" scaled="0"/>
                </a:gradFill>
                <a:uFillTx/>
                <a:latin typeface="汉仪旗黑-75S" panose="00020600040101010101" charset="-122"/>
                <a:ea typeface="汉仪旗黑-75S" panose="00020600040101010101" charset="-122"/>
              </a:rPr>
              <a:t> </a:t>
            </a:r>
            <a:r>
              <a:rPr lang="zh-CN" sz="7200" cap="all">
                <a:gradFill>
                  <a:gsLst>
                    <a:gs pos="0">
                      <a:srgbClr val="50AD1D">
                        <a:alpha val="100000"/>
                      </a:srgbClr>
                    </a:gs>
                    <a:gs pos="100000">
                      <a:srgbClr val="224B0C">
                        <a:alpha val="100000"/>
                      </a:srgbClr>
                    </a:gs>
                  </a:gsLst>
                  <a:lin ang="5400000" scaled="0"/>
                </a:gradFill>
                <a:uFillTx/>
                <a:latin typeface="汉仪旗黑-75S" panose="00020600040101010101" charset="-122"/>
                <a:ea typeface="汉仪旗黑-75S" panose="00020600040101010101" charset="-122"/>
              </a:rPr>
              <a:t>讨论</a:t>
            </a:r>
            <a:endParaRPr lang="zh-CN" sz="7200" cap="all">
              <a:gradFill>
                <a:gsLst>
                  <a:gs pos="0">
                    <a:srgbClr val="50AD1D">
                      <a:alpha val="100000"/>
                    </a:srgbClr>
                  </a:gs>
                  <a:gs pos="100000">
                    <a:srgbClr val="224B0C">
                      <a:alpha val="100000"/>
                    </a:srgbClr>
                  </a:gs>
                </a:gsLst>
                <a:lin ang="5400000" scaled="0"/>
              </a:gradFill>
              <a:uFillTx/>
              <a:latin typeface="汉仪旗黑-75S" panose="00020600040101010101" charset="-122"/>
              <a:ea typeface="汉仪旗黑-75S" panose="0002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71245" y="801370"/>
            <a:ext cx="4064000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60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</a:rPr>
              <a:t>03</a:t>
            </a:r>
            <a:endParaRPr lang="en-US" altLang="zh-CN" sz="1660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75S" panose="00020600040101010101" charset="-122"/>
              <a:ea typeface="汉仪旗黑-75S" panose="00020600040101010101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523865" y="4830445"/>
            <a:ext cx="5629910" cy="0"/>
          </a:xfrm>
          <a:prstGeom prst="line">
            <a:avLst/>
          </a:prstGeom>
          <a:ln>
            <a:solidFill>
              <a:srgbClr val="3A7F1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>
            <p:custDataLst>
              <p:tags r:id="rId3"/>
            </p:custDataLst>
          </p:nvPr>
        </p:nvSpPr>
        <p:spPr>
          <a:xfrm>
            <a:off x="8382000" y="1031240"/>
            <a:ext cx="2740025" cy="61722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6AE02"/>
              </a:gs>
              <a:gs pos="100000">
                <a:srgbClr val="224B0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4"/>
            </p:custDataLst>
          </p:nvPr>
        </p:nvSpPr>
        <p:spPr>
          <a:xfrm>
            <a:off x="8696325" y="1075690"/>
            <a:ext cx="21831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3200">
                <a:solidFill>
                  <a:schemeClr val="bg1"/>
                </a:solidFill>
                <a:latin typeface="汉仪旗黑-75S" panose="00020600040101010101" charset="-122"/>
                <a:ea typeface="汉仪旗黑-75S" panose="00020600040101010101" charset="-122"/>
                <a:cs typeface="汉仪旗黑-75S" panose="00020600040101010101" charset="-122"/>
              </a:rPr>
              <a:t>第三部分</a:t>
            </a:r>
            <a:endParaRPr lang="zh-CN" altLang="en-US" sz="3200">
              <a:solidFill>
                <a:schemeClr val="bg1"/>
              </a:solidFill>
              <a:latin typeface="汉仪旗黑-75S" panose="00020600040101010101" charset="-122"/>
              <a:ea typeface="汉仪旗黑-75S" panose="00020600040101010101" charset="-122"/>
              <a:cs typeface="汉仪旗黑-75S" panose="00020600040101010101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ECF3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352418" y="299740"/>
            <a:ext cx="107416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3.1 短链脂肪酸中丁酸钠盐对肉鸡生长后期生长性能的影响</a:t>
            </a:r>
            <a:endParaRPr kumimoji="1" sz="3200" b="1" dirty="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50简" panose="00020600040101010101" charset="-122"/>
              <a:ea typeface="汉仪旗黑-50简" panose="00020600040101010101" charset="-122"/>
            </a:endParaRPr>
          </a:p>
        </p:txBody>
      </p:sp>
      <p:sp>
        <p:nvSpPr>
          <p:cNvPr id="7" name="任意形状 12"/>
          <p:cNvSpPr/>
          <p:nvPr>
            <p:custDataLst>
              <p:tags r:id="rId2"/>
            </p:custDataLst>
          </p:nvPr>
        </p:nvSpPr>
        <p:spPr>
          <a:xfrm>
            <a:off x="0" y="6464698"/>
            <a:ext cx="12192000" cy="393302"/>
          </a:xfrm>
          <a:custGeom>
            <a:avLst/>
            <a:gdLst>
              <a:gd name="connsiteX0" fmla="*/ 12192000 w 12192000"/>
              <a:gd name="connsiteY0" fmla="*/ 0 h 909447"/>
              <a:gd name="connsiteX1" fmla="*/ 12192000 w 12192000"/>
              <a:gd name="connsiteY1" fmla="*/ 909447 h 909447"/>
              <a:gd name="connsiteX2" fmla="*/ 0 w 12192000"/>
              <a:gd name="connsiteY2" fmla="*/ 909447 h 909447"/>
              <a:gd name="connsiteX3" fmla="*/ 0 w 12192000"/>
              <a:gd name="connsiteY3" fmla="*/ 401788 h 909447"/>
              <a:gd name="connsiteX4" fmla="*/ 271475 w 12192000"/>
              <a:gd name="connsiteY4" fmla="*/ 389839 h 909447"/>
              <a:gd name="connsiteX5" fmla="*/ 8190271 w 12192000"/>
              <a:gd name="connsiteY5" fmla="*/ 639060 h 909447"/>
              <a:gd name="connsiteX6" fmla="*/ 12049480 w 12192000"/>
              <a:gd name="connsiteY6" fmla="*/ 34242 h 909447"/>
              <a:gd name="connsiteX0-1" fmla="*/ 12192000 w 12192000"/>
              <a:gd name="connsiteY0-2" fmla="*/ 0 h 909447"/>
              <a:gd name="connsiteX1-3" fmla="*/ 12192000 w 12192000"/>
              <a:gd name="connsiteY1-4" fmla="*/ 909447 h 909447"/>
              <a:gd name="connsiteX2-5" fmla="*/ 0 w 12192000"/>
              <a:gd name="connsiteY2-6" fmla="*/ 909447 h 909447"/>
              <a:gd name="connsiteX3-7" fmla="*/ 0 w 12192000"/>
              <a:gd name="connsiteY3-8" fmla="*/ 401788 h 909447"/>
              <a:gd name="connsiteX4-9" fmla="*/ 8190271 w 12192000"/>
              <a:gd name="connsiteY4-10" fmla="*/ 639060 h 909447"/>
              <a:gd name="connsiteX5-11" fmla="*/ 12049480 w 12192000"/>
              <a:gd name="connsiteY5-12" fmla="*/ 34242 h 909447"/>
              <a:gd name="connsiteX6-13" fmla="*/ 12192000 w 12192000"/>
              <a:gd name="connsiteY6-14" fmla="*/ 0 h 909447"/>
              <a:gd name="connsiteX0-15" fmla="*/ 12192000 w 12192000"/>
              <a:gd name="connsiteY0-16" fmla="*/ 0 h 909447"/>
              <a:gd name="connsiteX1-17" fmla="*/ 12192000 w 12192000"/>
              <a:gd name="connsiteY1-18" fmla="*/ 909447 h 909447"/>
              <a:gd name="connsiteX2-19" fmla="*/ 0 w 12192000"/>
              <a:gd name="connsiteY2-20" fmla="*/ 909447 h 909447"/>
              <a:gd name="connsiteX3-21" fmla="*/ 0 w 12192000"/>
              <a:gd name="connsiteY3-22" fmla="*/ 401788 h 909447"/>
              <a:gd name="connsiteX4-23" fmla="*/ 12049480 w 12192000"/>
              <a:gd name="connsiteY4-24" fmla="*/ 34242 h 909447"/>
              <a:gd name="connsiteX5-25" fmla="*/ 12192000 w 12192000"/>
              <a:gd name="connsiteY5-26" fmla="*/ 0 h 909447"/>
              <a:gd name="connsiteX0-27" fmla="*/ 12192000 w 12192000"/>
              <a:gd name="connsiteY0-28" fmla="*/ 0 h 909447"/>
              <a:gd name="connsiteX1-29" fmla="*/ 12192000 w 12192000"/>
              <a:gd name="connsiteY1-30" fmla="*/ 909447 h 909447"/>
              <a:gd name="connsiteX2-31" fmla="*/ 0 w 12192000"/>
              <a:gd name="connsiteY2-32" fmla="*/ 909447 h 909447"/>
              <a:gd name="connsiteX3-33" fmla="*/ 0 w 12192000"/>
              <a:gd name="connsiteY3-34" fmla="*/ 401788 h 909447"/>
              <a:gd name="connsiteX4-35" fmla="*/ 12192000 w 12192000"/>
              <a:gd name="connsiteY4-36" fmla="*/ 0 h 909447"/>
              <a:gd name="connsiteX0-37" fmla="*/ 12192000 w 12192000"/>
              <a:gd name="connsiteY0-38" fmla="*/ 0 h 909447"/>
              <a:gd name="connsiteX1-39" fmla="*/ 12192000 w 12192000"/>
              <a:gd name="connsiteY1-40" fmla="*/ 909447 h 909447"/>
              <a:gd name="connsiteX2-41" fmla="*/ 0 w 12192000"/>
              <a:gd name="connsiteY2-42" fmla="*/ 909447 h 909447"/>
              <a:gd name="connsiteX3-43" fmla="*/ 0 w 12192000"/>
              <a:gd name="connsiteY3-44" fmla="*/ 401788 h 909447"/>
              <a:gd name="connsiteX4-45" fmla="*/ 12192000 w 12192000"/>
              <a:gd name="connsiteY4-46" fmla="*/ 0 h 909447"/>
              <a:gd name="connsiteX0-47" fmla="*/ 12192000 w 12192000"/>
              <a:gd name="connsiteY0-48" fmla="*/ 0 h 909447"/>
              <a:gd name="connsiteX1-49" fmla="*/ 12192000 w 12192000"/>
              <a:gd name="connsiteY1-50" fmla="*/ 909447 h 909447"/>
              <a:gd name="connsiteX2-51" fmla="*/ 0 w 12192000"/>
              <a:gd name="connsiteY2-52" fmla="*/ 909447 h 909447"/>
              <a:gd name="connsiteX3-53" fmla="*/ 0 w 12192000"/>
              <a:gd name="connsiteY3-54" fmla="*/ 401788 h 909447"/>
              <a:gd name="connsiteX4-55" fmla="*/ 12192000 w 12192000"/>
              <a:gd name="connsiteY4-56" fmla="*/ 0 h 9094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909447">
                <a:moveTo>
                  <a:pt x="12192000" y="0"/>
                </a:moveTo>
                <a:lnTo>
                  <a:pt x="12192000" y="909447"/>
                </a:lnTo>
                <a:lnTo>
                  <a:pt x="0" y="909447"/>
                </a:lnTo>
                <a:lnTo>
                  <a:pt x="0" y="401788"/>
                </a:lnTo>
                <a:cubicBezTo>
                  <a:pt x="2540000" y="700478"/>
                  <a:pt x="6289368" y="812355"/>
                  <a:pt x="12192000" y="0"/>
                </a:cubicBezTo>
                <a:close/>
              </a:path>
            </a:pathLst>
          </a:cu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347472" y="329184"/>
            <a:ext cx="493776" cy="493776"/>
          </a:xfrm>
          <a:prstGeom prst="ellipse">
            <a:avLst/>
          </a:pr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676656" y="329184"/>
            <a:ext cx="493776" cy="493776"/>
          </a:xfrm>
          <a:prstGeom prst="ellipse">
            <a:avLst/>
          </a:prstGeom>
          <a:solidFill>
            <a:srgbClr val="36AE02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cxnSp>
        <p:nvCxnSpPr>
          <p:cNvPr id="12" name="直线连接符 11"/>
          <p:cNvCxnSpPr/>
          <p:nvPr>
            <p:custDataLst>
              <p:tags r:id="rId5"/>
            </p:custDataLst>
          </p:nvPr>
        </p:nvCxnSpPr>
        <p:spPr>
          <a:xfrm>
            <a:off x="0" y="989452"/>
            <a:ext cx="12192000" cy="0"/>
          </a:xfrm>
          <a:prstGeom prst="line">
            <a:avLst/>
          </a:prstGeom>
          <a:ln w="25400">
            <a:solidFill>
              <a:srgbClr val="3A7F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989330" y="1759585"/>
            <a:ext cx="9731375" cy="899160"/>
            <a:chOff x="7176" y="1788"/>
            <a:chExt cx="13486" cy="1246"/>
          </a:xfrm>
        </p:grpSpPr>
        <p:sp>
          <p:nvSpPr>
            <p:cNvPr id="14" name="圆角矩形 13"/>
            <p:cNvSpPr/>
            <p:nvPr>
              <p:custDataLst>
                <p:tags r:id="rId6"/>
              </p:custDataLst>
            </p:nvPr>
          </p:nvSpPr>
          <p:spPr>
            <a:xfrm>
              <a:off x="7891" y="1788"/>
              <a:ext cx="12771" cy="124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r="2700000" algn="tl" rotWithShape="0">
                <a:srgbClr val="3A7F1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对角圆角矩形 12"/>
            <p:cNvSpPr/>
            <p:nvPr>
              <p:custDataLst>
                <p:tags r:id="rId7"/>
              </p:custDataLst>
            </p:nvPr>
          </p:nvSpPr>
          <p:spPr>
            <a:xfrm flipH="1">
              <a:off x="7176" y="1788"/>
              <a:ext cx="2191" cy="1246"/>
            </a:xfrm>
            <a:prstGeom prst="round2DiagRect">
              <a:avLst>
                <a:gd name="adj1" fmla="val 39329"/>
                <a:gd name="adj2" fmla="val 0"/>
              </a:avLst>
            </a:prstGeom>
            <a:gradFill>
              <a:gsLst>
                <a:gs pos="0">
                  <a:srgbClr val="36AE02"/>
                </a:gs>
                <a:gs pos="100000">
                  <a:srgbClr val="224B0C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3200">
                  <a:latin typeface="汉仪旗黑-75S" panose="00020600040101010101" charset="-122"/>
                  <a:ea typeface="汉仪旗黑-75S" panose="00020600040101010101" charset="-122"/>
                </a:rPr>
                <a:t>01</a:t>
              </a:r>
              <a:endParaRPr lang="en-US" altLang="zh-CN" sz="3200">
                <a:latin typeface="汉仪旗黑-75S" panose="00020600040101010101" charset="-122"/>
                <a:ea typeface="汉仪旗黑-75S" panose="00020600040101010101" charset="-122"/>
              </a:endParaRPr>
            </a:p>
          </p:txBody>
        </p:sp>
      </p:grpSp>
      <p:sp>
        <p:nvSpPr>
          <p:cNvPr id="61" name="文本框 60"/>
          <p:cNvSpPr txBox="1"/>
          <p:nvPr>
            <p:custDataLst>
              <p:tags r:id="rId8"/>
            </p:custDataLst>
          </p:nvPr>
        </p:nvSpPr>
        <p:spPr>
          <a:xfrm>
            <a:off x="2928620" y="1932305"/>
            <a:ext cx="7183755" cy="645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  <a:sym typeface="+mn-ea"/>
              </a:rPr>
              <a:t>本试验及相关研究表明，丁酸钠对肉鸡生长性能的影响因饲养条件而异：常规条件下，其对生长后期日增重、采食量及饲料转化率无显著改善，但在热应激等应激环境下，包被丁酸钠可显著缓解负面影响，提高生长性能；</a:t>
            </a:r>
            <a:endParaRPr sz="1400" dirty="0"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  <a:sym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989965" y="4834255"/>
            <a:ext cx="9731375" cy="899160"/>
            <a:chOff x="7176" y="1788"/>
            <a:chExt cx="13486" cy="1246"/>
          </a:xfrm>
        </p:grpSpPr>
        <p:sp>
          <p:nvSpPr>
            <p:cNvPr id="20" name="圆角矩形 19"/>
            <p:cNvSpPr/>
            <p:nvPr>
              <p:custDataLst>
                <p:tags r:id="rId9"/>
              </p:custDataLst>
            </p:nvPr>
          </p:nvSpPr>
          <p:spPr>
            <a:xfrm>
              <a:off x="7891" y="1788"/>
              <a:ext cx="12771" cy="124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r="2700000" algn="tl" rotWithShape="0">
                <a:srgbClr val="3A7F1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对角圆角矩形 20"/>
            <p:cNvSpPr/>
            <p:nvPr>
              <p:custDataLst>
                <p:tags r:id="rId10"/>
              </p:custDataLst>
            </p:nvPr>
          </p:nvSpPr>
          <p:spPr>
            <a:xfrm flipH="1">
              <a:off x="7176" y="1788"/>
              <a:ext cx="2191" cy="1246"/>
            </a:xfrm>
            <a:prstGeom prst="round2DiagRect">
              <a:avLst>
                <a:gd name="adj1" fmla="val 39329"/>
                <a:gd name="adj2" fmla="val 0"/>
              </a:avLst>
            </a:prstGeom>
            <a:gradFill>
              <a:gsLst>
                <a:gs pos="0">
                  <a:srgbClr val="36AE02"/>
                </a:gs>
                <a:gs pos="100000">
                  <a:srgbClr val="224B0C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3200">
                  <a:latin typeface="汉仪旗黑-75S" panose="00020600040101010101" charset="-122"/>
                  <a:ea typeface="汉仪旗黑-75S" panose="00020600040101010101" charset="-122"/>
                </a:rPr>
                <a:t>03</a:t>
              </a:r>
              <a:endParaRPr lang="en-US" altLang="zh-CN" sz="3200">
                <a:latin typeface="汉仪旗黑-75S" panose="00020600040101010101" charset="-122"/>
                <a:ea typeface="汉仪旗黑-75S" panose="00020600040101010101" charset="-122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2929255" y="5163820"/>
            <a:ext cx="7183755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  <a:sym typeface="+mn-ea"/>
              </a:rPr>
              <a:t>其促生长机制可能在于提高饲料转化率而非单纯增加采食量，这与多数同类研究结果一致。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 flipH="1">
            <a:off x="1352925" y="3227705"/>
            <a:ext cx="9368415" cy="899160"/>
            <a:chOff x="7176" y="1788"/>
            <a:chExt cx="12983" cy="1246"/>
          </a:xfrm>
        </p:grpSpPr>
        <p:sp>
          <p:nvSpPr>
            <p:cNvPr id="29" name="圆角矩形 28"/>
            <p:cNvSpPr/>
            <p:nvPr>
              <p:custDataLst>
                <p:tags r:id="rId12"/>
              </p:custDataLst>
            </p:nvPr>
          </p:nvSpPr>
          <p:spPr>
            <a:xfrm>
              <a:off x="7891" y="1788"/>
              <a:ext cx="12268" cy="124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r="2700000" algn="tl" rotWithShape="0">
                <a:srgbClr val="3A7F1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对角圆角矩形 29"/>
            <p:cNvSpPr/>
            <p:nvPr>
              <p:custDataLst>
                <p:tags r:id="rId13"/>
              </p:custDataLst>
            </p:nvPr>
          </p:nvSpPr>
          <p:spPr>
            <a:xfrm flipH="1">
              <a:off x="7176" y="1788"/>
              <a:ext cx="2191" cy="1246"/>
            </a:xfrm>
            <a:prstGeom prst="round2DiagRect">
              <a:avLst>
                <a:gd name="adj1" fmla="val 39329"/>
                <a:gd name="adj2" fmla="val 0"/>
              </a:avLst>
            </a:prstGeom>
            <a:gradFill>
              <a:gsLst>
                <a:gs pos="0">
                  <a:srgbClr val="36AE02"/>
                </a:gs>
                <a:gs pos="100000">
                  <a:srgbClr val="224B0C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3200">
                  <a:latin typeface="汉仪旗黑-75S" panose="00020600040101010101" charset="-122"/>
                  <a:ea typeface="汉仪旗黑-75S" panose="00020600040101010101" charset="-122"/>
                </a:rPr>
                <a:t>02</a:t>
              </a:r>
              <a:endParaRPr lang="en-US" altLang="zh-CN" sz="3200">
                <a:latin typeface="汉仪旗黑-75S" panose="00020600040101010101" charset="-122"/>
                <a:ea typeface="汉仪旗黑-75S" panose="00020600040101010101" charset="-122"/>
              </a:endParaRPr>
            </a:p>
          </p:txBody>
        </p:sp>
      </p:grpSp>
      <p:sp>
        <p:nvSpPr>
          <p:cNvPr id="32" name="文本框 31"/>
          <p:cNvSpPr txBox="1"/>
          <p:nvPr>
            <p:custDataLst>
              <p:tags r:id="rId14"/>
            </p:custDataLst>
          </p:nvPr>
        </p:nvSpPr>
        <p:spPr>
          <a:xfrm>
            <a:off x="1864995" y="3531235"/>
            <a:ext cx="7183755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  <a:sym typeface="+mn-ea"/>
              </a:rPr>
              <a:t>与抗生素相比，丁酸钠在后期增重和料肉比改善上更具优势，且能改善免疫和血清指标；</a:t>
            </a:r>
            <a:endParaRPr sz="1400" dirty="0"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  <a:sym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ECF3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352418" y="299740"/>
            <a:ext cx="103346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3.2 日粮添加丁酸钠对肉鸡生长后期血清生化指标的影响</a:t>
            </a:r>
            <a:endParaRPr kumimoji="1" sz="3200" b="1" dirty="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50简" panose="00020600040101010101" charset="-122"/>
              <a:ea typeface="汉仪旗黑-50简" panose="00020600040101010101" charset="-122"/>
            </a:endParaRPr>
          </a:p>
        </p:txBody>
      </p:sp>
      <p:sp>
        <p:nvSpPr>
          <p:cNvPr id="7" name="任意形状 12"/>
          <p:cNvSpPr/>
          <p:nvPr>
            <p:custDataLst>
              <p:tags r:id="rId2"/>
            </p:custDataLst>
          </p:nvPr>
        </p:nvSpPr>
        <p:spPr>
          <a:xfrm>
            <a:off x="0" y="6464698"/>
            <a:ext cx="12192000" cy="393302"/>
          </a:xfrm>
          <a:custGeom>
            <a:avLst/>
            <a:gdLst>
              <a:gd name="connsiteX0" fmla="*/ 12192000 w 12192000"/>
              <a:gd name="connsiteY0" fmla="*/ 0 h 909447"/>
              <a:gd name="connsiteX1" fmla="*/ 12192000 w 12192000"/>
              <a:gd name="connsiteY1" fmla="*/ 909447 h 909447"/>
              <a:gd name="connsiteX2" fmla="*/ 0 w 12192000"/>
              <a:gd name="connsiteY2" fmla="*/ 909447 h 909447"/>
              <a:gd name="connsiteX3" fmla="*/ 0 w 12192000"/>
              <a:gd name="connsiteY3" fmla="*/ 401788 h 909447"/>
              <a:gd name="connsiteX4" fmla="*/ 271475 w 12192000"/>
              <a:gd name="connsiteY4" fmla="*/ 389839 h 909447"/>
              <a:gd name="connsiteX5" fmla="*/ 8190271 w 12192000"/>
              <a:gd name="connsiteY5" fmla="*/ 639060 h 909447"/>
              <a:gd name="connsiteX6" fmla="*/ 12049480 w 12192000"/>
              <a:gd name="connsiteY6" fmla="*/ 34242 h 909447"/>
              <a:gd name="connsiteX0-1" fmla="*/ 12192000 w 12192000"/>
              <a:gd name="connsiteY0-2" fmla="*/ 0 h 909447"/>
              <a:gd name="connsiteX1-3" fmla="*/ 12192000 w 12192000"/>
              <a:gd name="connsiteY1-4" fmla="*/ 909447 h 909447"/>
              <a:gd name="connsiteX2-5" fmla="*/ 0 w 12192000"/>
              <a:gd name="connsiteY2-6" fmla="*/ 909447 h 909447"/>
              <a:gd name="connsiteX3-7" fmla="*/ 0 w 12192000"/>
              <a:gd name="connsiteY3-8" fmla="*/ 401788 h 909447"/>
              <a:gd name="connsiteX4-9" fmla="*/ 8190271 w 12192000"/>
              <a:gd name="connsiteY4-10" fmla="*/ 639060 h 909447"/>
              <a:gd name="connsiteX5-11" fmla="*/ 12049480 w 12192000"/>
              <a:gd name="connsiteY5-12" fmla="*/ 34242 h 909447"/>
              <a:gd name="connsiteX6-13" fmla="*/ 12192000 w 12192000"/>
              <a:gd name="connsiteY6-14" fmla="*/ 0 h 909447"/>
              <a:gd name="connsiteX0-15" fmla="*/ 12192000 w 12192000"/>
              <a:gd name="connsiteY0-16" fmla="*/ 0 h 909447"/>
              <a:gd name="connsiteX1-17" fmla="*/ 12192000 w 12192000"/>
              <a:gd name="connsiteY1-18" fmla="*/ 909447 h 909447"/>
              <a:gd name="connsiteX2-19" fmla="*/ 0 w 12192000"/>
              <a:gd name="connsiteY2-20" fmla="*/ 909447 h 909447"/>
              <a:gd name="connsiteX3-21" fmla="*/ 0 w 12192000"/>
              <a:gd name="connsiteY3-22" fmla="*/ 401788 h 909447"/>
              <a:gd name="connsiteX4-23" fmla="*/ 12049480 w 12192000"/>
              <a:gd name="connsiteY4-24" fmla="*/ 34242 h 909447"/>
              <a:gd name="connsiteX5-25" fmla="*/ 12192000 w 12192000"/>
              <a:gd name="connsiteY5-26" fmla="*/ 0 h 909447"/>
              <a:gd name="connsiteX0-27" fmla="*/ 12192000 w 12192000"/>
              <a:gd name="connsiteY0-28" fmla="*/ 0 h 909447"/>
              <a:gd name="connsiteX1-29" fmla="*/ 12192000 w 12192000"/>
              <a:gd name="connsiteY1-30" fmla="*/ 909447 h 909447"/>
              <a:gd name="connsiteX2-31" fmla="*/ 0 w 12192000"/>
              <a:gd name="connsiteY2-32" fmla="*/ 909447 h 909447"/>
              <a:gd name="connsiteX3-33" fmla="*/ 0 w 12192000"/>
              <a:gd name="connsiteY3-34" fmla="*/ 401788 h 909447"/>
              <a:gd name="connsiteX4-35" fmla="*/ 12192000 w 12192000"/>
              <a:gd name="connsiteY4-36" fmla="*/ 0 h 909447"/>
              <a:gd name="connsiteX0-37" fmla="*/ 12192000 w 12192000"/>
              <a:gd name="connsiteY0-38" fmla="*/ 0 h 909447"/>
              <a:gd name="connsiteX1-39" fmla="*/ 12192000 w 12192000"/>
              <a:gd name="connsiteY1-40" fmla="*/ 909447 h 909447"/>
              <a:gd name="connsiteX2-41" fmla="*/ 0 w 12192000"/>
              <a:gd name="connsiteY2-42" fmla="*/ 909447 h 909447"/>
              <a:gd name="connsiteX3-43" fmla="*/ 0 w 12192000"/>
              <a:gd name="connsiteY3-44" fmla="*/ 401788 h 909447"/>
              <a:gd name="connsiteX4-45" fmla="*/ 12192000 w 12192000"/>
              <a:gd name="connsiteY4-46" fmla="*/ 0 h 909447"/>
              <a:gd name="connsiteX0-47" fmla="*/ 12192000 w 12192000"/>
              <a:gd name="connsiteY0-48" fmla="*/ 0 h 909447"/>
              <a:gd name="connsiteX1-49" fmla="*/ 12192000 w 12192000"/>
              <a:gd name="connsiteY1-50" fmla="*/ 909447 h 909447"/>
              <a:gd name="connsiteX2-51" fmla="*/ 0 w 12192000"/>
              <a:gd name="connsiteY2-52" fmla="*/ 909447 h 909447"/>
              <a:gd name="connsiteX3-53" fmla="*/ 0 w 12192000"/>
              <a:gd name="connsiteY3-54" fmla="*/ 401788 h 909447"/>
              <a:gd name="connsiteX4-55" fmla="*/ 12192000 w 12192000"/>
              <a:gd name="connsiteY4-56" fmla="*/ 0 h 9094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909447">
                <a:moveTo>
                  <a:pt x="12192000" y="0"/>
                </a:moveTo>
                <a:lnTo>
                  <a:pt x="12192000" y="909447"/>
                </a:lnTo>
                <a:lnTo>
                  <a:pt x="0" y="909447"/>
                </a:lnTo>
                <a:lnTo>
                  <a:pt x="0" y="401788"/>
                </a:lnTo>
                <a:cubicBezTo>
                  <a:pt x="2540000" y="700478"/>
                  <a:pt x="6289368" y="812355"/>
                  <a:pt x="12192000" y="0"/>
                </a:cubicBezTo>
                <a:close/>
              </a:path>
            </a:pathLst>
          </a:cu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347472" y="329184"/>
            <a:ext cx="493776" cy="493776"/>
          </a:xfrm>
          <a:prstGeom prst="ellipse">
            <a:avLst/>
          </a:pr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676656" y="329184"/>
            <a:ext cx="493776" cy="493776"/>
          </a:xfrm>
          <a:prstGeom prst="ellipse">
            <a:avLst/>
          </a:prstGeom>
          <a:solidFill>
            <a:srgbClr val="36AE02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13" name="圆角矩形 112"/>
          <p:cNvSpPr/>
          <p:nvPr>
            <p:custDataLst>
              <p:tags r:id="rId5"/>
            </p:custDataLst>
          </p:nvPr>
        </p:nvSpPr>
        <p:spPr>
          <a:xfrm>
            <a:off x="575310" y="3301365"/>
            <a:ext cx="8046720" cy="110045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76BC30">
                  <a:alpha val="23000"/>
                </a:srgbClr>
              </a:gs>
              <a:gs pos="4000">
                <a:srgbClr val="76BC30">
                  <a:alpha val="0"/>
                </a:srgbClr>
              </a:gs>
            </a:gsLst>
            <a:lin ang="10800000" scaled="0"/>
          </a:gradFill>
          <a:ln>
            <a:noFill/>
          </a:ln>
          <a:effectLst>
            <a:outerShdw blurRad="609600" dist="228600" dir="2700000" algn="tl" rotWithShape="0">
              <a:srgbClr val="3A7F1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2" name="直线连接符 11"/>
          <p:cNvCxnSpPr/>
          <p:nvPr>
            <p:custDataLst>
              <p:tags r:id="rId6"/>
            </p:custDataLst>
          </p:nvPr>
        </p:nvCxnSpPr>
        <p:spPr>
          <a:xfrm>
            <a:off x="0" y="989452"/>
            <a:ext cx="12192000" cy="0"/>
          </a:xfrm>
          <a:prstGeom prst="line">
            <a:avLst/>
          </a:prstGeom>
          <a:ln w="25400">
            <a:solidFill>
              <a:srgbClr val="3A7F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圆角矩形 111"/>
          <p:cNvSpPr/>
          <p:nvPr>
            <p:custDataLst>
              <p:tags r:id="rId7"/>
            </p:custDataLst>
          </p:nvPr>
        </p:nvSpPr>
        <p:spPr>
          <a:xfrm>
            <a:off x="575310" y="1810385"/>
            <a:ext cx="8046720" cy="110045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76BC30">
                  <a:alpha val="23000"/>
                </a:srgbClr>
              </a:gs>
              <a:gs pos="4000">
                <a:srgbClr val="76BC30">
                  <a:alpha val="0"/>
                </a:srgbClr>
              </a:gs>
            </a:gsLst>
            <a:lin ang="10800000" scaled="0"/>
          </a:gradFill>
          <a:ln>
            <a:noFill/>
          </a:ln>
          <a:effectLst>
            <a:outerShdw blurRad="609600" dist="228600" dir="2700000" algn="tl" rotWithShape="0">
              <a:srgbClr val="3A7F1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4" name="文本框 103"/>
          <p:cNvSpPr txBox="1"/>
          <p:nvPr>
            <p:custDataLst>
              <p:tags r:id="rId8"/>
            </p:custDataLst>
          </p:nvPr>
        </p:nvSpPr>
        <p:spPr>
          <a:xfrm>
            <a:off x="1991995" y="1896110"/>
            <a:ext cx="6254750" cy="1289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  <a:sym typeface="+mn-ea"/>
              </a:rPr>
              <a:t>本研究表明丁酸钠对肉鸡脂代谢具双向调控作用：可提高白蛋白、甘油三酯及低密度脂蛋白（LDL）水平，其中白蛋白提升增强抗氧化能力，LDL升高或利于脂质向肌肉转运以改善料肉比；</a:t>
            </a:r>
            <a:endParaRPr sz="1400" dirty="0"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  <a:sym typeface="+mn-ea"/>
            </a:endParaRPr>
          </a:p>
        </p:txBody>
      </p:sp>
      <p:sp>
        <p:nvSpPr>
          <p:cNvPr id="105" name="圆角矩形 104"/>
          <p:cNvSpPr/>
          <p:nvPr>
            <p:custDataLst>
              <p:tags r:id="rId9"/>
            </p:custDataLst>
          </p:nvPr>
        </p:nvSpPr>
        <p:spPr>
          <a:xfrm>
            <a:off x="841375" y="2098040"/>
            <a:ext cx="1054735" cy="528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6AE02"/>
              </a:gs>
              <a:gs pos="100000">
                <a:srgbClr val="224B0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文本框 107"/>
          <p:cNvSpPr txBox="1"/>
          <p:nvPr>
            <p:custDataLst>
              <p:tags r:id="rId10"/>
            </p:custDataLst>
          </p:nvPr>
        </p:nvSpPr>
        <p:spPr>
          <a:xfrm>
            <a:off x="1991995" y="3429000"/>
            <a:ext cx="6485890" cy="1289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  <a:sym typeface="+mn-ea"/>
              </a:rPr>
              <a:t>其机制可能与促进肝脏脂质合成、调节肠道L细胞分泌胰高血糖素及激活抗氧化酶系统有关，且剂量依赖性变化和肠道菌群二次代谢或为影响因素，这与部分研究结论差异或因研究阶段不同，后续可结合脂蛋白亚型分析等深入解析调控通路。</a:t>
            </a:r>
            <a:endParaRPr lang="zh-CN" altLang="en-US" sz="1400" dirty="0">
              <a:solidFill>
                <a:schemeClr val="tx1"/>
              </a:solidFill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  <a:sym typeface="+mn-ea"/>
            </a:endParaRPr>
          </a:p>
        </p:txBody>
      </p:sp>
      <p:sp>
        <p:nvSpPr>
          <p:cNvPr id="110" name="圆角矩形 109"/>
          <p:cNvSpPr/>
          <p:nvPr>
            <p:custDataLst>
              <p:tags r:id="rId11"/>
            </p:custDataLst>
          </p:nvPr>
        </p:nvSpPr>
        <p:spPr>
          <a:xfrm>
            <a:off x="841375" y="3568700"/>
            <a:ext cx="1054735" cy="528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6AE02"/>
              </a:gs>
              <a:gs pos="100000">
                <a:srgbClr val="224B0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8" name="任意多边形 127"/>
          <p:cNvSpPr/>
          <p:nvPr/>
        </p:nvSpPr>
        <p:spPr>
          <a:xfrm>
            <a:off x="8477250" y="989330"/>
            <a:ext cx="3462655" cy="50565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415" h="7908">
                <a:moveTo>
                  <a:pt x="3954" y="0"/>
                </a:moveTo>
                <a:cubicBezTo>
                  <a:pt x="4466" y="0"/>
                  <a:pt x="4955" y="97"/>
                  <a:pt x="5404" y="274"/>
                </a:cubicBezTo>
                <a:lnTo>
                  <a:pt x="5415" y="279"/>
                </a:lnTo>
                <a:lnTo>
                  <a:pt x="5415" y="7629"/>
                </a:lnTo>
                <a:lnTo>
                  <a:pt x="5404" y="7634"/>
                </a:lnTo>
                <a:cubicBezTo>
                  <a:pt x="4955" y="7811"/>
                  <a:pt x="4466" y="7908"/>
                  <a:pt x="3954" y="7908"/>
                </a:cubicBezTo>
                <a:cubicBezTo>
                  <a:pt x="1770" y="7908"/>
                  <a:pt x="0" y="6138"/>
                  <a:pt x="0" y="3954"/>
                </a:cubicBezTo>
                <a:cubicBezTo>
                  <a:pt x="0" y="1770"/>
                  <a:pt x="1770" y="0"/>
                  <a:pt x="3954" y="0"/>
                </a:cubicBezTo>
                <a:close/>
              </a:path>
            </a:pathLst>
          </a:custGeom>
          <a:gradFill>
            <a:gsLst>
              <a:gs pos="100000">
                <a:srgbClr val="76BC30">
                  <a:alpha val="23000"/>
                </a:srgbClr>
              </a:gs>
              <a:gs pos="4000">
                <a:srgbClr val="76BC30">
                  <a:alpha val="0"/>
                </a:srgbClr>
              </a:gs>
            </a:gsLst>
            <a:lin ang="10800000" scaled="0"/>
          </a:gradFill>
          <a:ln>
            <a:noFill/>
          </a:ln>
          <a:effectLst>
            <a:outerShdw blurRad="609600" dist="228600" dir="2700000" algn="tl" rotWithShape="0">
              <a:srgbClr val="3A7F1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2" name="图片 1" descr="/Users/mac/Library/Containers/com.kingsoft.wpsoffice.mac/Data/tmp/photoeditapp/20250530121924/temp.pngtemp"/>
          <p:cNvPicPr/>
          <p:nvPr/>
        </p:nvPicPr>
        <p:blipFill>
          <a:blip r:embed="rId12"/>
        </p:blipFill>
        <p:spPr>
          <a:xfrm>
            <a:off x="8413115" y="1697990"/>
            <a:ext cx="3945255" cy="38608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ECF3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352418" y="299740"/>
            <a:ext cx="93167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3.3日粮添加丁酸钠对肉鸡生长后期肠道形态的影响</a:t>
            </a:r>
            <a:endParaRPr kumimoji="1" sz="3200" b="1" dirty="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50简" panose="00020600040101010101" charset="-122"/>
              <a:ea typeface="汉仪旗黑-50简" panose="00020600040101010101" charset="-122"/>
            </a:endParaRPr>
          </a:p>
        </p:txBody>
      </p:sp>
      <p:sp>
        <p:nvSpPr>
          <p:cNvPr id="7" name="任意形状 12"/>
          <p:cNvSpPr/>
          <p:nvPr>
            <p:custDataLst>
              <p:tags r:id="rId2"/>
            </p:custDataLst>
          </p:nvPr>
        </p:nvSpPr>
        <p:spPr>
          <a:xfrm>
            <a:off x="0" y="6464698"/>
            <a:ext cx="12192000" cy="393302"/>
          </a:xfrm>
          <a:custGeom>
            <a:avLst/>
            <a:gdLst>
              <a:gd name="connsiteX0" fmla="*/ 12192000 w 12192000"/>
              <a:gd name="connsiteY0" fmla="*/ 0 h 909447"/>
              <a:gd name="connsiteX1" fmla="*/ 12192000 w 12192000"/>
              <a:gd name="connsiteY1" fmla="*/ 909447 h 909447"/>
              <a:gd name="connsiteX2" fmla="*/ 0 w 12192000"/>
              <a:gd name="connsiteY2" fmla="*/ 909447 h 909447"/>
              <a:gd name="connsiteX3" fmla="*/ 0 w 12192000"/>
              <a:gd name="connsiteY3" fmla="*/ 401788 h 909447"/>
              <a:gd name="connsiteX4" fmla="*/ 271475 w 12192000"/>
              <a:gd name="connsiteY4" fmla="*/ 389839 h 909447"/>
              <a:gd name="connsiteX5" fmla="*/ 8190271 w 12192000"/>
              <a:gd name="connsiteY5" fmla="*/ 639060 h 909447"/>
              <a:gd name="connsiteX6" fmla="*/ 12049480 w 12192000"/>
              <a:gd name="connsiteY6" fmla="*/ 34242 h 909447"/>
              <a:gd name="connsiteX0-1" fmla="*/ 12192000 w 12192000"/>
              <a:gd name="connsiteY0-2" fmla="*/ 0 h 909447"/>
              <a:gd name="connsiteX1-3" fmla="*/ 12192000 w 12192000"/>
              <a:gd name="connsiteY1-4" fmla="*/ 909447 h 909447"/>
              <a:gd name="connsiteX2-5" fmla="*/ 0 w 12192000"/>
              <a:gd name="connsiteY2-6" fmla="*/ 909447 h 909447"/>
              <a:gd name="connsiteX3-7" fmla="*/ 0 w 12192000"/>
              <a:gd name="connsiteY3-8" fmla="*/ 401788 h 909447"/>
              <a:gd name="connsiteX4-9" fmla="*/ 8190271 w 12192000"/>
              <a:gd name="connsiteY4-10" fmla="*/ 639060 h 909447"/>
              <a:gd name="connsiteX5-11" fmla="*/ 12049480 w 12192000"/>
              <a:gd name="connsiteY5-12" fmla="*/ 34242 h 909447"/>
              <a:gd name="connsiteX6-13" fmla="*/ 12192000 w 12192000"/>
              <a:gd name="connsiteY6-14" fmla="*/ 0 h 909447"/>
              <a:gd name="connsiteX0-15" fmla="*/ 12192000 w 12192000"/>
              <a:gd name="connsiteY0-16" fmla="*/ 0 h 909447"/>
              <a:gd name="connsiteX1-17" fmla="*/ 12192000 w 12192000"/>
              <a:gd name="connsiteY1-18" fmla="*/ 909447 h 909447"/>
              <a:gd name="connsiteX2-19" fmla="*/ 0 w 12192000"/>
              <a:gd name="connsiteY2-20" fmla="*/ 909447 h 909447"/>
              <a:gd name="connsiteX3-21" fmla="*/ 0 w 12192000"/>
              <a:gd name="connsiteY3-22" fmla="*/ 401788 h 909447"/>
              <a:gd name="connsiteX4-23" fmla="*/ 12049480 w 12192000"/>
              <a:gd name="connsiteY4-24" fmla="*/ 34242 h 909447"/>
              <a:gd name="connsiteX5-25" fmla="*/ 12192000 w 12192000"/>
              <a:gd name="connsiteY5-26" fmla="*/ 0 h 909447"/>
              <a:gd name="connsiteX0-27" fmla="*/ 12192000 w 12192000"/>
              <a:gd name="connsiteY0-28" fmla="*/ 0 h 909447"/>
              <a:gd name="connsiteX1-29" fmla="*/ 12192000 w 12192000"/>
              <a:gd name="connsiteY1-30" fmla="*/ 909447 h 909447"/>
              <a:gd name="connsiteX2-31" fmla="*/ 0 w 12192000"/>
              <a:gd name="connsiteY2-32" fmla="*/ 909447 h 909447"/>
              <a:gd name="connsiteX3-33" fmla="*/ 0 w 12192000"/>
              <a:gd name="connsiteY3-34" fmla="*/ 401788 h 909447"/>
              <a:gd name="connsiteX4-35" fmla="*/ 12192000 w 12192000"/>
              <a:gd name="connsiteY4-36" fmla="*/ 0 h 909447"/>
              <a:gd name="connsiteX0-37" fmla="*/ 12192000 w 12192000"/>
              <a:gd name="connsiteY0-38" fmla="*/ 0 h 909447"/>
              <a:gd name="connsiteX1-39" fmla="*/ 12192000 w 12192000"/>
              <a:gd name="connsiteY1-40" fmla="*/ 909447 h 909447"/>
              <a:gd name="connsiteX2-41" fmla="*/ 0 w 12192000"/>
              <a:gd name="connsiteY2-42" fmla="*/ 909447 h 909447"/>
              <a:gd name="connsiteX3-43" fmla="*/ 0 w 12192000"/>
              <a:gd name="connsiteY3-44" fmla="*/ 401788 h 909447"/>
              <a:gd name="connsiteX4-45" fmla="*/ 12192000 w 12192000"/>
              <a:gd name="connsiteY4-46" fmla="*/ 0 h 909447"/>
              <a:gd name="connsiteX0-47" fmla="*/ 12192000 w 12192000"/>
              <a:gd name="connsiteY0-48" fmla="*/ 0 h 909447"/>
              <a:gd name="connsiteX1-49" fmla="*/ 12192000 w 12192000"/>
              <a:gd name="connsiteY1-50" fmla="*/ 909447 h 909447"/>
              <a:gd name="connsiteX2-51" fmla="*/ 0 w 12192000"/>
              <a:gd name="connsiteY2-52" fmla="*/ 909447 h 909447"/>
              <a:gd name="connsiteX3-53" fmla="*/ 0 w 12192000"/>
              <a:gd name="connsiteY3-54" fmla="*/ 401788 h 909447"/>
              <a:gd name="connsiteX4-55" fmla="*/ 12192000 w 12192000"/>
              <a:gd name="connsiteY4-56" fmla="*/ 0 h 9094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909447">
                <a:moveTo>
                  <a:pt x="12192000" y="0"/>
                </a:moveTo>
                <a:lnTo>
                  <a:pt x="12192000" y="909447"/>
                </a:lnTo>
                <a:lnTo>
                  <a:pt x="0" y="909447"/>
                </a:lnTo>
                <a:lnTo>
                  <a:pt x="0" y="401788"/>
                </a:lnTo>
                <a:cubicBezTo>
                  <a:pt x="2540000" y="700478"/>
                  <a:pt x="6289368" y="812355"/>
                  <a:pt x="12192000" y="0"/>
                </a:cubicBezTo>
                <a:close/>
              </a:path>
            </a:pathLst>
          </a:cu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347472" y="329184"/>
            <a:ext cx="493776" cy="493776"/>
          </a:xfrm>
          <a:prstGeom prst="ellipse">
            <a:avLst/>
          </a:pr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676656" y="329184"/>
            <a:ext cx="493776" cy="493776"/>
          </a:xfrm>
          <a:prstGeom prst="ellipse">
            <a:avLst/>
          </a:prstGeom>
          <a:solidFill>
            <a:srgbClr val="36AE02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cxnSp>
        <p:nvCxnSpPr>
          <p:cNvPr id="12" name="直线连接符 11"/>
          <p:cNvCxnSpPr/>
          <p:nvPr>
            <p:custDataLst>
              <p:tags r:id="rId5"/>
            </p:custDataLst>
          </p:nvPr>
        </p:nvCxnSpPr>
        <p:spPr>
          <a:xfrm>
            <a:off x="0" y="989452"/>
            <a:ext cx="12192000" cy="0"/>
          </a:xfrm>
          <a:prstGeom prst="line">
            <a:avLst/>
          </a:prstGeom>
          <a:ln w="25400">
            <a:solidFill>
              <a:srgbClr val="3A7F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229360" y="1716405"/>
            <a:ext cx="4213860" cy="1830705"/>
            <a:chOff x="2071" y="2829"/>
            <a:chExt cx="6636" cy="2883"/>
          </a:xfrm>
        </p:grpSpPr>
        <p:sp>
          <p:nvSpPr>
            <p:cNvPr id="4" name="矩形 3"/>
            <p:cNvSpPr/>
            <p:nvPr/>
          </p:nvSpPr>
          <p:spPr>
            <a:xfrm>
              <a:off x="4911" y="2829"/>
              <a:ext cx="3796" cy="980"/>
            </a:xfrm>
            <a:prstGeom prst="rect">
              <a:avLst/>
            </a:prstGeom>
            <a:solidFill>
              <a:srgbClr val="3A7E15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36AE02"/>
                  </a:gs>
                  <a:gs pos="83000">
                    <a:srgbClr val="76BC30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2071" y="2997"/>
              <a:ext cx="6512" cy="2715"/>
            </a:xfrm>
            <a:prstGeom prst="rect">
              <a:avLst/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36AE02"/>
                  </a:gs>
                  <a:gs pos="83000">
                    <a:srgbClr val="76BC30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609600" dist="228600" dir="2700000" algn="tl" rotWithShape="0">
                <a:srgbClr val="3A7F15">
                  <a:alpha val="40000"/>
                </a:srgb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3" name="椭圆 12"/>
            <p:cNvSpPr/>
            <p:nvPr>
              <p:custDataLst>
                <p:tags r:id="rId6"/>
              </p:custDataLst>
            </p:nvPr>
          </p:nvSpPr>
          <p:spPr>
            <a:xfrm>
              <a:off x="2461" y="3590"/>
              <a:ext cx="1528" cy="1528"/>
            </a:xfrm>
            <a:prstGeom prst="ellipse">
              <a:avLst/>
            </a:prstGeom>
            <a:gradFill>
              <a:gsLst>
                <a:gs pos="76000">
                  <a:srgbClr val="367212"/>
                </a:gs>
                <a:gs pos="100000">
                  <a:srgbClr val="36AE02"/>
                </a:gs>
                <a:gs pos="0">
                  <a:srgbClr val="76BC30"/>
                </a:gs>
                <a:gs pos="60000">
                  <a:srgbClr val="36721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outerShdw blurRad="317500" dist="152400" dir="2700000" algn="tl" rotWithShape="0">
                <a:srgbClr val="22A13A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800">
                  <a:latin typeface="汉仪旗黑-75S" panose="00020600040101010101" charset="-122"/>
                  <a:ea typeface="汉仪旗黑-75S" panose="00020600040101010101" charset="-122"/>
                </a:rPr>
                <a:t>01</a:t>
              </a:r>
              <a:endParaRPr lang="en-US" altLang="zh-CN" sz="2800">
                <a:latin typeface="汉仪旗黑-75S" panose="00020600040101010101" charset="-122"/>
                <a:ea typeface="汉仪旗黑-75S" panose="00020600040101010101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7"/>
              </p:custDataLst>
            </p:nvPr>
          </p:nvSpPr>
          <p:spPr>
            <a:xfrm>
              <a:off x="4208" y="3590"/>
              <a:ext cx="4130" cy="184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dirty="0">
                  <a:solidFill>
                    <a:schemeClr val="tx1"/>
                  </a:solidFill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  <a:sym typeface="+mn-ea"/>
                </a:rPr>
                <a:t>丁酸钠可促进肉鸡十二指肠、空肠绒毛生长，加深隐窝深度，提高绒隐比，对回肠调节作用有限，其中空肠促生长效果优于十二指肠。</a:t>
              </a:r>
              <a:endParaRPr sz="1400" dirty="0">
                <a:solidFill>
                  <a:schemeClr val="tx1"/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  <a:sym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787515" y="1716405"/>
            <a:ext cx="4213860" cy="1830705"/>
            <a:chOff x="2071" y="2829"/>
            <a:chExt cx="6636" cy="2883"/>
          </a:xfrm>
        </p:grpSpPr>
        <p:sp>
          <p:nvSpPr>
            <p:cNvPr id="9" name="矩形 8"/>
            <p:cNvSpPr/>
            <p:nvPr/>
          </p:nvSpPr>
          <p:spPr>
            <a:xfrm>
              <a:off x="4911" y="2829"/>
              <a:ext cx="3796" cy="980"/>
            </a:xfrm>
            <a:prstGeom prst="rect">
              <a:avLst/>
            </a:prstGeom>
            <a:solidFill>
              <a:srgbClr val="3A7E15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36AE02"/>
                  </a:gs>
                  <a:gs pos="83000">
                    <a:srgbClr val="76BC30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2071" y="2997"/>
              <a:ext cx="6512" cy="2715"/>
            </a:xfrm>
            <a:prstGeom prst="rect">
              <a:avLst/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36AE02"/>
                  </a:gs>
                  <a:gs pos="83000">
                    <a:srgbClr val="76BC30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609600" dist="228600" dir="2700000" algn="tl" rotWithShape="0">
                <a:srgbClr val="3A7F15">
                  <a:alpha val="40000"/>
                </a:srgb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2461" y="3590"/>
              <a:ext cx="1528" cy="1528"/>
            </a:xfrm>
            <a:prstGeom prst="ellipse">
              <a:avLst/>
            </a:prstGeom>
            <a:gradFill>
              <a:gsLst>
                <a:gs pos="76000">
                  <a:srgbClr val="367212"/>
                </a:gs>
                <a:gs pos="100000">
                  <a:srgbClr val="36AE02"/>
                </a:gs>
                <a:gs pos="0">
                  <a:srgbClr val="76BC30"/>
                </a:gs>
                <a:gs pos="60000">
                  <a:srgbClr val="36721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outerShdw blurRad="317500" dist="152400" dir="2700000" algn="tl" rotWithShape="0">
                <a:srgbClr val="22A13A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800">
                  <a:latin typeface="汉仪旗黑-75S" panose="00020600040101010101" charset="-122"/>
                  <a:ea typeface="汉仪旗黑-75S" panose="00020600040101010101" charset="-122"/>
                </a:rPr>
                <a:t>02</a:t>
              </a:r>
              <a:endParaRPr lang="en-US" altLang="zh-CN" sz="2800">
                <a:latin typeface="汉仪旗黑-75S" panose="00020600040101010101" charset="-122"/>
                <a:ea typeface="汉仪旗黑-75S" panose="00020600040101010101" charset="-122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9"/>
              </p:custDataLst>
            </p:nvPr>
          </p:nvSpPr>
          <p:spPr>
            <a:xfrm>
              <a:off x="4208" y="3590"/>
              <a:ext cx="4130" cy="150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dirty="0">
                  <a:solidFill>
                    <a:schemeClr val="tx1"/>
                  </a:solidFill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  <a:sym typeface="+mn-ea"/>
                </a:rPr>
                <a:t>其通过上调紧密连接蛋白表达、刺激杯状细胞分泌黏蛋白等增强肠道屏障功能，还能抑制肠道炎症、缓解氧化应激。</a:t>
              </a:r>
              <a:endParaRPr sz="1400" dirty="0">
                <a:solidFill>
                  <a:schemeClr val="tx1"/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  <a:sym typeface="+mn-ea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229360" y="4050665"/>
            <a:ext cx="4213860" cy="1830705"/>
            <a:chOff x="2071" y="2829"/>
            <a:chExt cx="6636" cy="2883"/>
          </a:xfrm>
        </p:grpSpPr>
        <p:sp>
          <p:nvSpPr>
            <p:cNvPr id="20" name="矩形 19"/>
            <p:cNvSpPr/>
            <p:nvPr/>
          </p:nvSpPr>
          <p:spPr>
            <a:xfrm>
              <a:off x="4911" y="2829"/>
              <a:ext cx="3796" cy="980"/>
            </a:xfrm>
            <a:prstGeom prst="rect">
              <a:avLst/>
            </a:prstGeom>
            <a:solidFill>
              <a:srgbClr val="3A7E15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36AE02"/>
                  </a:gs>
                  <a:gs pos="83000">
                    <a:srgbClr val="76BC30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2071" y="2997"/>
              <a:ext cx="6512" cy="2715"/>
            </a:xfrm>
            <a:prstGeom prst="rect">
              <a:avLst/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36AE02"/>
                  </a:gs>
                  <a:gs pos="83000">
                    <a:srgbClr val="76BC30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609600" dist="228600" dir="2700000" algn="tl" rotWithShape="0">
                <a:srgbClr val="3A7F15">
                  <a:alpha val="40000"/>
                </a:srgb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2" name="椭圆 21"/>
            <p:cNvSpPr/>
            <p:nvPr>
              <p:custDataLst>
                <p:tags r:id="rId10"/>
              </p:custDataLst>
            </p:nvPr>
          </p:nvSpPr>
          <p:spPr>
            <a:xfrm>
              <a:off x="2461" y="3590"/>
              <a:ext cx="1528" cy="1528"/>
            </a:xfrm>
            <a:prstGeom prst="ellipse">
              <a:avLst/>
            </a:prstGeom>
            <a:gradFill>
              <a:gsLst>
                <a:gs pos="76000">
                  <a:srgbClr val="367212"/>
                </a:gs>
                <a:gs pos="100000">
                  <a:srgbClr val="36AE02"/>
                </a:gs>
                <a:gs pos="0">
                  <a:srgbClr val="76BC30"/>
                </a:gs>
                <a:gs pos="60000">
                  <a:srgbClr val="36721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outerShdw blurRad="317500" dist="152400" dir="2700000" algn="tl" rotWithShape="0">
                <a:srgbClr val="22A13A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800">
                  <a:latin typeface="汉仪旗黑-75S" panose="00020600040101010101" charset="-122"/>
                  <a:ea typeface="汉仪旗黑-75S" panose="00020600040101010101" charset="-122"/>
                </a:rPr>
                <a:t>03</a:t>
              </a:r>
              <a:endParaRPr lang="en-US" altLang="zh-CN" sz="2800">
                <a:latin typeface="汉仪旗黑-75S" panose="00020600040101010101" charset="-122"/>
                <a:ea typeface="汉仪旗黑-75S" panose="00020600040101010101" charset="-122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11"/>
              </p:custDataLst>
            </p:nvPr>
          </p:nvSpPr>
          <p:spPr>
            <a:xfrm>
              <a:off x="4208" y="3660"/>
              <a:ext cx="4130" cy="150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dirty="0">
                  <a:solidFill>
                    <a:schemeClr val="tx1"/>
                  </a:solidFill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  <a:sym typeface="+mn-ea"/>
                </a:rPr>
                <a:t>丁酸钠可调控肠道菌群平衡，促进有益菌生长，提高胰蛋白酶等消化酶活性，优化能量代谢，为肠上皮细胞供能。</a:t>
              </a:r>
              <a:endParaRPr sz="1400" dirty="0">
                <a:solidFill>
                  <a:schemeClr val="tx1"/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  <a:sym typeface="+mn-ea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787515" y="4050665"/>
            <a:ext cx="4213860" cy="1830705"/>
            <a:chOff x="2071" y="2829"/>
            <a:chExt cx="6636" cy="2883"/>
          </a:xfrm>
        </p:grpSpPr>
        <p:sp>
          <p:nvSpPr>
            <p:cNvPr id="26" name="矩形 25"/>
            <p:cNvSpPr/>
            <p:nvPr/>
          </p:nvSpPr>
          <p:spPr>
            <a:xfrm>
              <a:off x="4911" y="2829"/>
              <a:ext cx="3796" cy="980"/>
            </a:xfrm>
            <a:prstGeom prst="rect">
              <a:avLst/>
            </a:prstGeom>
            <a:solidFill>
              <a:srgbClr val="3A7E15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36AE02"/>
                  </a:gs>
                  <a:gs pos="83000">
                    <a:srgbClr val="76BC30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071" y="2997"/>
              <a:ext cx="6512" cy="2715"/>
            </a:xfrm>
            <a:prstGeom prst="rect">
              <a:avLst/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36AE02"/>
                  </a:gs>
                  <a:gs pos="83000">
                    <a:srgbClr val="76BC30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609600" dist="228600" dir="2700000" algn="tl" rotWithShape="0">
                <a:srgbClr val="3A7F15">
                  <a:alpha val="40000"/>
                </a:srgb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8" name="椭圆 27"/>
            <p:cNvSpPr/>
            <p:nvPr>
              <p:custDataLst>
                <p:tags r:id="rId12"/>
              </p:custDataLst>
            </p:nvPr>
          </p:nvSpPr>
          <p:spPr>
            <a:xfrm>
              <a:off x="2461" y="3590"/>
              <a:ext cx="1528" cy="1528"/>
            </a:xfrm>
            <a:prstGeom prst="ellipse">
              <a:avLst/>
            </a:prstGeom>
            <a:gradFill>
              <a:gsLst>
                <a:gs pos="76000">
                  <a:srgbClr val="367212"/>
                </a:gs>
                <a:gs pos="100000">
                  <a:srgbClr val="36AE02"/>
                </a:gs>
                <a:gs pos="0">
                  <a:srgbClr val="76BC30"/>
                </a:gs>
                <a:gs pos="60000">
                  <a:srgbClr val="36721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outerShdw blurRad="317500" dist="152400" dir="2700000" algn="tl" rotWithShape="0">
                <a:srgbClr val="22A13A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800">
                  <a:latin typeface="汉仪旗黑-75S" panose="00020600040101010101" charset="-122"/>
                  <a:ea typeface="汉仪旗黑-75S" panose="00020600040101010101" charset="-122"/>
                </a:rPr>
                <a:t>04</a:t>
              </a:r>
              <a:endParaRPr lang="en-US" altLang="zh-CN" sz="2800">
                <a:latin typeface="汉仪旗黑-75S" panose="00020600040101010101" charset="-122"/>
                <a:ea typeface="汉仪旗黑-75S" panose="00020600040101010101" charset="-122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13"/>
              </p:custDataLst>
            </p:nvPr>
          </p:nvSpPr>
          <p:spPr>
            <a:xfrm>
              <a:off x="4413" y="3660"/>
              <a:ext cx="4130" cy="150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dirty="0">
                  <a:solidFill>
                    <a:schemeClr val="tx1"/>
                  </a:solidFill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  <a:sym typeface="+mn-ea"/>
                </a:rPr>
                <a:t>本研究与添加包被丁酸钠改善肠道形态的同类研究结果一致，均表明短链脂肪酸能优化肉鸡肠道结构与功能</a:t>
              </a:r>
              <a:r>
                <a:rPr lang="zh-CN" sz="1400" dirty="0">
                  <a:solidFill>
                    <a:schemeClr val="tx1"/>
                  </a:solidFill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  <a:sym typeface="+mn-ea"/>
                </a:rPr>
                <a:t>。</a:t>
              </a:r>
              <a:endParaRPr lang="zh-CN" sz="1400" dirty="0">
                <a:solidFill>
                  <a:schemeClr val="tx1"/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  <a:sym typeface="+mn-ea"/>
              </a:endParaRPr>
            </a:p>
          </p:txBody>
        </p:sp>
      </p:grpSp>
    </p:spTree>
    <p:custDataLst>
      <p:tags r:id="rId1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>
            <a:off x="0" y="0"/>
            <a:ext cx="513524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87" h="10800">
                <a:moveTo>
                  <a:pt x="0" y="0"/>
                </a:moveTo>
                <a:lnTo>
                  <a:pt x="7089" y="0"/>
                </a:lnTo>
                <a:lnTo>
                  <a:pt x="7124" y="66"/>
                </a:lnTo>
                <a:cubicBezTo>
                  <a:pt x="7739" y="1232"/>
                  <a:pt x="8087" y="2560"/>
                  <a:pt x="8087" y="3969"/>
                </a:cubicBezTo>
                <a:cubicBezTo>
                  <a:pt x="8087" y="6788"/>
                  <a:pt x="6695" y="9281"/>
                  <a:pt x="4560" y="10799"/>
                </a:cubicBezTo>
                <a:lnTo>
                  <a:pt x="4559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992620" y="2482215"/>
            <a:ext cx="51993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720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</a:rPr>
              <a:t>结论</a:t>
            </a:r>
            <a:endParaRPr lang="zh-CN" altLang="en-US" sz="720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75S" panose="00020600040101010101" charset="-122"/>
              <a:ea typeface="汉仪旗黑-75S" panose="0002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71245" y="801370"/>
            <a:ext cx="4064000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60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</a:rPr>
              <a:t>04</a:t>
            </a:r>
            <a:endParaRPr lang="en-US" altLang="zh-CN" sz="1660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75S" panose="00020600040101010101" charset="-122"/>
              <a:ea typeface="汉仪旗黑-75S" panose="00020600040101010101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523865" y="4830445"/>
            <a:ext cx="5629910" cy="0"/>
          </a:xfrm>
          <a:prstGeom prst="line">
            <a:avLst/>
          </a:prstGeom>
          <a:ln>
            <a:solidFill>
              <a:srgbClr val="3A7F1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>
            <p:custDataLst>
              <p:tags r:id="rId4"/>
            </p:custDataLst>
          </p:nvPr>
        </p:nvSpPr>
        <p:spPr>
          <a:xfrm>
            <a:off x="8382000" y="1031240"/>
            <a:ext cx="2740025" cy="61722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6AE02"/>
              </a:gs>
              <a:gs pos="100000">
                <a:srgbClr val="224B0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5"/>
            </p:custDataLst>
          </p:nvPr>
        </p:nvSpPr>
        <p:spPr>
          <a:xfrm>
            <a:off x="8696325" y="1075690"/>
            <a:ext cx="21831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3200">
                <a:solidFill>
                  <a:schemeClr val="bg1"/>
                </a:solidFill>
                <a:latin typeface="汉仪旗黑-75S" panose="00020600040101010101" charset="-122"/>
                <a:ea typeface="汉仪旗黑-75S" panose="00020600040101010101" charset="-122"/>
                <a:cs typeface="汉仪旗黑-75S" panose="00020600040101010101" charset="-122"/>
              </a:rPr>
              <a:t>第四部分</a:t>
            </a:r>
            <a:endParaRPr lang="zh-CN" altLang="en-US" sz="3200">
              <a:solidFill>
                <a:schemeClr val="bg1"/>
              </a:solidFill>
              <a:latin typeface="汉仪旗黑-75S" panose="00020600040101010101" charset="-122"/>
              <a:ea typeface="汉仪旗黑-75S" panose="00020600040101010101" charset="-122"/>
              <a:cs typeface="汉仪旗黑-75S" panose="00020600040101010101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ECF3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352418" y="299740"/>
            <a:ext cx="99695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lang="zh-CN" altLang="en-US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结论</a:t>
            </a:r>
            <a:endParaRPr kumimoji="1" lang="zh-CN" altLang="en-US" sz="3200" b="1" dirty="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50简" panose="00020600040101010101" charset="-122"/>
              <a:ea typeface="汉仪旗黑-50简" panose="00020600040101010101" charset="-122"/>
            </a:endParaRPr>
          </a:p>
        </p:txBody>
      </p:sp>
      <p:sp>
        <p:nvSpPr>
          <p:cNvPr id="7" name="任意形状 12"/>
          <p:cNvSpPr/>
          <p:nvPr>
            <p:custDataLst>
              <p:tags r:id="rId2"/>
            </p:custDataLst>
          </p:nvPr>
        </p:nvSpPr>
        <p:spPr>
          <a:xfrm>
            <a:off x="0" y="6464698"/>
            <a:ext cx="12192000" cy="393302"/>
          </a:xfrm>
          <a:custGeom>
            <a:avLst/>
            <a:gdLst>
              <a:gd name="connsiteX0" fmla="*/ 12192000 w 12192000"/>
              <a:gd name="connsiteY0" fmla="*/ 0 h 909447"/>
              <a:gd name="connsiteX1" fmla="*/ 12192000 w 12192000"/>
              <a:gd name="connsiteY1" fmla="*/ 909447 h 909447"/>
              <a:gd name="connsiteX2" fmla="*/ 0 w 12192000"/>
              <a:gd name="connsiteY2" fmla="*/ 909447 h 909447"/>
              <a:gd name="connsiteX3" fmla="*/ 0 w 12192000"/>
              <a:gd name="connsiteY3" fmla="*/ 401788 h 909447"/>
              <a:gd name="connsiteX4" fmla="*/ 271475 w 12192000"/>
              <a:gd name="connsiteY4" fmla="*/ 389839 h 909447"/>
              <a:gd name="connsiteX5" fmla="*/ 8190271 w 12192000"/>
              <a:gd name="connsiteY5" fmla="*/ 639060 h 909447"/>
              <a:gd name="connsiteX6" fmla="*/ 12049480 w 12192000"/>
              <a:gd name="connsiteY6" fmla="*/ 34242 h 909447"/>
              <a:gd name="connsiteX0-1" fmla="*/ 12192000 w 12192000"/>
              <a:gd name="connsiteY0-2" fmla="*/ 0 h 909447"/>
              <a:gd name="connsiteX1-3" fmla="*/ 12192000 w 12192000"/>
              <a:gd name="connsiteY1-4" fmla="*/ 909447 h 909447"/>
              <a:gd name="connsiteX2-5" fmla="*/ 0 w 12192000"/>
              <a:gd name="connsiteY2-6" fmla="*/ 909447 h 909447"/>
              <a:gd name="connsiteX3-7" fmla="*/ 0 w 12192000"/>
              <a:gd name="connsiteY3-8" fmla="*/ 401788 h 909447"/>
              <a:gd name="connsiteX4-9" fmla="*/ 8190271 w 12192000"/>
              <a:gd name="connsiteY4-10" fmla="*/ 639060 h 909447"/>
              <a:gd name="connsiteX5-11" fmla="*/ 12049480 w 12192000"/>
              <a:gd name="connsiteY5-12" fmla="*/ 34242 h 909447"/>
              <a:gd name="connsiteX6-13" fmla="*/ 12192000 w 12192000"/>
              <a:gd name="connsiteY6-14" fmla="*/ 0 h 909447"/>
              <a:gd name="connsiteX0-15" fmla="*/ 12192000 w 12192000"/>
              <a:gd name="connsiteY0-16" fmla="*/ 0 h 909447"/>
              <a:gd name="connsiteX1-17" fmla="*/ 12192000 w 12192000"/>
              <a:gd name="connsiteY1-18" fmla="*/ 909447 h 909447"/>
              <a:gd name="connsiteX2-19" fmla="*/ 0 w 12192000"/>
              <a:gd name="connsiteY2-20" fmla="*/ 909447 h 909447"/>
              <a:gd name="connsiteX3-21" fmla="*/ 0 w 12192000"/>
              <a:gd name="connsiteY3-22" fmla="*/ 401788 h 909447"/>
              <a:gd name="connsiteX4-23" fmla="*/ 12049480 w 12192000"/>
              <a:gd name="connsiteY4-24" fmla="*/ 34242 h 909447"/>
              <a:gd name="connsiteX5-25" fmla="*/ 12192000 w 12192000"/>
              <a:gd name="connsiteY5-26" fmla="*/ 0 h 909447"/>
              <a:gd name="connsiteX0-27" fmla="*/ 12192000 w 12192000"/>
              <a:gd name="connsiteY0-28" fmla="*/ 0 h 909447"/>
              <a:gd name="connsiteX1-29" fmla="*/ 12192000 w 12192000"/>
              <a:gd name="connsiteY1-30" fmla="*/ 909447 h 909447"/>
              <a:gd name="connsiteX2-31" fmla="*/ 0 w 12192000"/>
              <a:gd name="connsiteY2-32" fmla="*/ 909447 h 909447"/>
              <a:gd name="connsiteX3-33" fmla="*/ 0 w 12192000"/>
              <a:gd name="connsiteY3-34" fmla="*/ 401788 h 909447"/>
              <a:gd name="connsiteX4-35" fmla="*/ 12192000 w 12192000"/>
              <a:gd name="connsiteY4-36" fmla="*/ 0 h 909447"/>
              <a:gd name="connsiteX0-37" fmla="*/ 12192000 w 12192000"/>
              <a:gd name="connsiteY0-38" fmla="*/ 0 h 909447"/>
              <a:gd name="connsiteX1-39" fmla="*/ 12192000 w 12192000"/>
              <a:gd name="connsiteY1-40" fmla="*/ 909447 h 909447"/>
              <a:gd name="connsiteX2-41" fmla="*/ 0 w 12192000"/>
              <a:gd name="connsiteY2-42" fmla="*/ 909447 h 909447"/>
              <a:gd name="connsiteX3-43" fmla="*/ 0 w 12192000"/>
              <a:gd name="connsiteY3-44" fmla="*/ 401788 h 909447"/>
              <a:gd name="connsiteX4-45" fmla="*/ 12192000 w 12192000"/>
              <a:gd name="connsiteY4-46" fmla="*/ 0 h 909447"/>
              <a:gd name="connsiteX0-47" fmla="*/ 12192000 w 12192000"/>
              <a:gd name="connsiteY0-48" fmla="*/ 0 h 909447"/>
              <a:gd name="connsiteX1-49" fmla="*/ 12192000 w 12192000"/>
              <a:gd name="connsiteY1-50" fmla="*/ 909447 h 909447"/>
              <a:gd name="connsiteX2-51" fmla="*/ 0 w 12192000"/>
              <a:gd name="connsiteY2-52" fmla="*/ 909447 h 909447"/>
              <a:gd name="connsiteX3-53" fmla="*/ 0 w 12192000"/>
              <a:gd name="connsiteY3-54" fmla="*/ 401788 h 909447"/>
              <a:gd name="connsiteX4-55" fmla="*/ 12192000 w 12192000"/>
              <a:gd name="connsiteY4-56" fmla="*/ 0 h 9094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909447">
                <a:moveTo>
                  <a:pt x="12192000" y="0"/>
                </a:moveTo>
                <a:lnTo>
                  <a:pt x="12192000" y="909447"/>
                </a:lnTo>
                <a:lnTo>
                  <a:pt x="0" y="909447"/>
                </a:lnTo>
                <a:lnTo>
                  <a:pt x="0" y="401788"/>
                </a:lnTo>
                <a:cubicBezTo>
                  <a:pt x="2540000" y="700478"/>
                  <a:pt x="6289368" y="812355"/>
                  <a:pt x="12192000" y="0"/>
                </a:cubicBezTo>
                <a:close/>
              </a:path>
            </a:pathLst>
          </a:cu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347472" y="329184"/>
            <a:ext cx="493776" cy="493776"/>
          </a:xfrm>
          <a:prstGeom prst="ellipse">
            <a:avLst/>
          </a:pr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676656" y="329184"/>
            <a:ext cx="493776" cy="493776"/>
          </a:xfrm>
          <a:prstGeom prst="ellipse">
            <a:avLst/>
          </a:prstGeom>
          <a:solidFill>
            <a:srgbClr val="36AE02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cxnSp>
        <p:nvCxnSpPr>
          <p:cNvPr id="12" name="直线连接符 11"/>
          <p:cNvCxnSpPr/>
          <p:nvPr>
            <p:custDataLst>
              <p:tags r:id="rId5"/>
            </p:custDataLst>
          </p:nvPr>
        </p:nvCxnSpPr>
        <p:spPr>
          <a:xfrm>
            <a:off x="0" y="989452"/>
            <a:ext cx="12192000" cy="0"/>
          </a:xfrm>
          <a:prstGeom prst="line">
            <a:avLst/>
          </a:prstGeom>
          <a:ln w="25400">
            <a:solidFill>
              <a:srgbClr val="3A7F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r="-2612" b="32425"/>
          <a:stretch>
            <a:fillRect/>
          </a:stretch>
        </p:blipFill>
        <p:spPr>
          <a:xfrm>
            <a:off x="1945005" y="1011555"/>
            <a:ext cx="7981315" cy="545020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ECF3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352418" y="299740"/>
            <a:ext cx="18110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lang="zh-CN" altLang="en-US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未来</a:t>
            </a:r>
            <a:r>
              <a:rPr kumimoji="1" lang="zh-CN" altLang="en-US" sz="3200" b="1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50简" panose="00020600040101010101" charset="-122"/>
                <a:ea typeface="汉仪旗黑-50简" panose="00020600040101010101" charset="-122"/>
              </a:rPr>
              <a:t>计划</a:t>
            </a:r>
            <a:endParaRPr kumimoji="1" lang="zh-CN" altLang="en-US" sz="3200" b="1" dirty="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50简" panose="00020600040101010101" charset="-122"/>
              <a:ea typeface="汉仪旗黑-50简" panose="00020600040101010101" charset="-122"/>
            </a:endParaRPr>
          </a:p>
        </p:txBody>
      </p:sp>
      <p:sp>
        <p:nvSpPr>
          <p:cNvPr id="7" name="任意形状 12"/>
          <p:cNvSpPr/>
          <p:nvPr>
            <p:custDataLst>
              <p:tags r:id="rId2"/>
            </p:custDataLst>
          </p:nvPr>
        </p:nvSpPr>
        <p:spPr>
          <a:xfrm>
            <a:off x="0" y="6464698"/>
            <a:ext cx="12192000" cy="393302"/>
          </a:xfrm>
          <a:custGeom>
            <a:avLst/>
            <a:gdLst>
              <a:gd name="connsiteX0" fmla="*/ 12192000 w 12192000"/>
              <a:gd name="connsiteY0" fmla="*/ 0 h 909447"/>
              <a:gd name="connsiteX1" fmla="*/ 12192000 w 12192000"/>
              <a:gd name="connsiteY1" fmla="*/ 909447 h 909447"/>
              <a:gd name="connsiteX2" fmla="*/ 0 w 12192000"/>
              <a:gd name="connsiteY2" fmla="*/ 909447 h 909447"/>
              <a:gd name="connsiteX3" fmla="*/ 0 w 12192000"/>
              <a:gd name="connsiteY3" fmla="*/ 401788 h 909447"/>
              <a:gd name="connsiteX4" fmla="*/ 271475 w 12192000"/>
              <a:gd name="connsiteY4" fmla="*/ 389839 h 909447"/>
              <a:gd name="connsiteX5" fmla="*/ 8190271 w 12192000"/>
              <a:gd name="connsiteY5" fmla="*/ 639060 h 909447"/>
              <a:gd name="connsiteX6" fmla="*/ 12049480 w 12192000"/>
              <a:gd name="connsiteY6" fmla="*/ 34242 h 909447"/>
              <a:gd name="connsiteX0-1" fmla="*/ 12192000 w 12192000"/>
              <a:gd name="connsiteY0-2" fmla="*/ 0 h 909447"/>
              <a:gd name="connsiteX1-3" fmla="*/ 12192000 w 12192000"/>
              <a:gd name="connsiteY1-4" fmla="*/ 909447 h 909447"/>
              <a:gd name="connsiteX2-5" fmla="*/ 0 w 12192000"/>
              <a:gd name="connsiteY2-6" fmla="*/ 909447 h 909447"/>
              <a:gd name="connsiteX3-7" fmla="*/ 0 w 12192000"/>
              <a:gd name="connsiteY3-8" fmla="*/ 401788 h 909447"/>
              <a:gd name="connsiteX4-9" fmla="*/ 8190271 w 12192000"/>
              <a:gd name="connsiteY4-10" fmla="*/ 639060 h 909447"/>
              <a:gd name="connsiteX5-11" fmla="*/ 12049480 w 12192000"/>
              <a:gd name="connsiteY5-12" fmla="*/ 34242 h 909447"/>
              <a:gd name="connsiteX6-13" fmla="*/ 12192000 w 12192000"/>
              <a:gd name="connsiteY6-14" fmla="*/ 0 h 909447"/>
              <a:gd name="connsiteX0-15" fmla="*/ 12192000 w 12192000"/>
              <a:gd name="connsiteY0-16" fmla="*/ 0 h 909447"/>
              <a:gd name="connsiteX1-17" fmla="*/ 12192000 w 12192000"/>
              <a:gd name="connsiteY1-18" fmla="*/ 909447 h 909447"/>
              <a:gd name="connsiteX2-19" fmla="*/ 0 w 12192000"/>
              <a:gd name="connsiteY2-20" fmla="*/ 909447 h 909447"/>
              <a:gd name="connsiteX3-21" fmla="*/ 0 w 12192000"/>
              <a:gd name="connsiteY3-22" fmla="*/ 401788 h 909447"/>
              <a:gd name="connsiteX4-23" fmla="*/ 12049480 w 12192000"/>
              <a:gd name="connsiteY4-24" fmla="*/ 34242 h 909447"/>
              <a:gd name="connsiteX5-25" fmla="*/ 12192000 w 12192000"/>
              <a:gd name="connsiteY5-26" fmla="*/ 0 h 909447"/>
              <a:gd name="connsiteX0-27" fmla="*/ 12192000 w 12192000"/>
              <a:gd name="connsiteY0-28" fmla="*/ 0 h 909447"/>
              <a:gd name="connsiteX1-29" fmla="*/ 12192000 w 12192000"/>
              <a:gd name="connsiteY1-30" fmla="*/ 909447 h 909447"/>
              <a:gd name="connsiteX2-31" fmla="*/ 0 w 12192000"/>
              <a:gd name="connsiteY2-32" fmla="*/ 909447 h 909447"/>
              <a:gd name="connsiteX3-33" fmla="*/ 0 w 12192000"/>
              <a:gd name="connsiteY3-34" fmla="*/ 401788 h 909447"/>
              <a:gd name="connsiteX4-35" fmla="*/ 12192000 w 12192000"/>
              <a:gd name="connsiteY4-36" fmla="*/ 0 h 909447"/>
              <a:gd name="connsiteX0-37" fmla="*/ 12192000 w 12192000"/>
              <a:gd name="connsiteY0-38" fmla="*/ 0 h 909447"/>
              <a:gd name="connsiteX1-39" fmla="*/ 12192000 w 12192000"/>
              <a:gd name="connsiteY1-40" fmla="*/ 909447 h 909447"/>
              <a:gd name="connsiteX2-41" fmla="*/ 0 w 12192000"/>
              <a:gd name="connsiteY2-42" fmla="*/ 909447 h 909447"/>
              <a:gd name="connsiteX3-43" fmla="*/ 0 w 12192000"/>
              <a:gd name="connsiteY3-44" fmla="*/ 401788 h 909447"/>
              <a:gd name="connsiteX4-45" fmla="*/ 12192000 w 12192000"/>
              <a:gd name="connsiteY4-46" fmla="*/ 0 h 909447"/>
              <a:gd name="connsiteX0-47" fmla="*/ 12192000 w 12192000"/>
              <a:gd name="connsiteY0-48" fmla="*/ 0 h 909447"/>
              <a:gd name="connsiteX1-49" fmla="*/ 12192000 w 12192000"/>
              <a:gd name="connsiteY1-50" fmla="*/ 909447 h 909447"/>
              <a:gd name="connsiteX2-51" fmla="*/ 0 w 12192000"/>
              <a:gd name="connsiteY2-52" fmla="*/ 909447 h 909447"/>
              <a:gd name="connsiteX3-53" fmla="*/ 0 w 12192000"/>
              <a:gd name="connsiteY3-54" fmla="*/ 401788 h 909447"/>
              <a:gd name="connsiteX4-55" fmla="*/ 12192000 w 12192000"/>
              <a:gd name="connsiteY4-56" fmla="*/ 0 h 9094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909447">
                <a:moveTo>
                  <a:pt x="12192000" y="0"/>
                </a:moveTo>
                <a:lnTo>
                  <a:pt x="12192000" y="909447"/>
                </a:lnTo>
                <a:lnTo>
                  <a:pt x="0" y="909447"/>
                </a:lnTo>
                <a:lnTo>
                  <a:pt x="0" y="401788"/>
                </a:lnTo>
                <a:cubicBezTo>
                  <a:pt x="2540000" y="700478"/>
                  <a:pt x="6289368" y="812355"/>
                  <a:pt x="12192000" y="0"/>
                </a:cubicBezTo>
                <a:close/>
              </a:path>
            </a:pathLst>
          </a:cu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347472" y="329184"/>
            <a:ext cx="493776" cy="493776"/>
          </a:xfrm>
          <a:prstGeom prst="ellipse">
            <a:avLst/>
          </a:prstGeom>
          <a:solidFill>
            <a:srgbClr val="3A7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676656" y="329184"/>
            <a:ext cx="493776" cy="493776"/>
          </a:xfrm>
          <a:prstGeom prst="ellipse">
            <a:avLst/>
          </a:prstGeom>
          <a:solidFill>
            <a:srgbClr val="36AE02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cxnSp>
        <p:nvCxnSpPr>
          <p:cNvPr id="12" name="直线连接符 11"/>
          <p:cNvCxnSpPr/>
          <p:nvPr>
            <p:custDataLst>
              <p:tags r:id="rId5"/>
            </p:custDataLst>
          </p:nvPr>
        </p:nvCxnSpPr>
        <p:spPr>
          <a:xfrm>
            <a:off x="0" y="989452"/>
            <a:ext cx="12192000" cy="0"/>
          </a:xfrm>
          <a:prstGeom prst="line">
            <a:avLst/>
          </a:prstGeom>
          <a:ln w="25400">
            <a:solidFill>
              <a:srgbClr val="3A7F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/>
          <p:cNvSpPr/>
          <p:nvPr>
            <p:custDataLst>
              <p:tags r:id="rId6"/>
            </p:custDataLst>
          </p:nvPr>
        </p:nvSpPr>
        <p:spPr>
          <a:xfrm>
            <a:off x="5048478" y="2680228"/>
            <a:ext cx="2093774" cy="2093774"/>
          </a:xfrm>
          <a:prstGeom prst="ellipse">
            <a:avLst/>
          </a:prstGeom>
          <a:gradFill>
            <a:gsLst>
              <a:gs pos="76000">
                <a:srgbClr val="367212"/>
              </a:gs>
              <a:gs pos="100000">
                <a:srgbClr val="36AE02"/>
              </a:gs>
              <a:gs pos="0">
                <a:srgbClr val="76BC30"/>
              </a:gs>
              <a:gs pos="60000">
                <a:srgbClr val="36721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317500" dist="152400" dir="2700000" algn="tl" rotWithShape="0">
              <a:srgbClr val="22A13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2000">
              <a:latin typeface="汉仪旗黑-75S" panose="00020600040101010101" charset="-122"/>
              <a:ea typeface="汉仪旗黑-75S" panose="00020600040101010101" charset="-122"/>
              <a:sym typeface="+mn-ea"/>
            </a:endParaRPr>
          </a:p>
        </p:txBody>
      </p:sp>
      <p:sp>
        <p:nvSpPr>
          <p:cNvPr id="54" name="文本框 53"/>
          <p:cNvSpPr txBox="1"/>
          <p:nvPr>
            <p:custDataLst>
              <p:tags r:id="rId7"/>
            </p:custDataLst>
          </p:nvPr>
        </p:nvSpPr>
        <p:spPr>
          <a:xfrm>
            <a:off x="5556756" y="3511672"/>
            <a:ext cx="1077218" cy="4308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关键词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5" name="椭圆 54"/>
          <p:cNvSpPr/>
          <p:nvPr>
            <p:custDataLst>
              <p:tags r:id="rId8"/>
            </p:custDataLst>
          </p:nvPr>
        </p:nvSpPr>
        <p:spPr>
          <a:xfrm>
            <a:off x="4444098" y="2075848"/>
            <a:ext cx="3302534" cy="3302534"/>
          </a:xfrm>
          <a:prstGeom prst="ellipse">
            <a:avLst/>
          </a:prstGeom>
          <a:noFill/>
          <a:ln w="38100">
            <a:solidFill>
              <a:srgbClr val="3A7F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6" name="椭圆 55"/>
          <p:cNvSpPr/>
          <p:nvPr>
            <p:custDataLst>
              <p:tags r:id="rId9"/>
            </p:custDataLst>
          </p:nvPr>
        </p:nvSpPr>
        <p:spPr>
          <a:xfrm>
            <a:off x="4624180" y="2236002"/>
            <a:ext cx="684052" cy="684052"/>
          </a:xfrm>
          <a:prstGeom prst="ellipse">
            <a:avLst/>
          </a:prstGeom>
          <a:gradFill>
            <a:gsLst>
              <a:gs pos="76000">
                <a:srgbClr val="367212"/>
              </a:gs>
              <a:gs pos="100000">
                <a:srgbClr val="36AE02"/>
              </a:gs>
              <a:gs pos="0">
                <a:srgbClr val="76BC30"/>
              </a:gs>
              <a:gs pos="60000">
                <a:srgbClr val="36721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317500" dist="152400" dir="2700000" algn="tl" rotWithShape="0">
              <a:srgbClr val="22A13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2000">
              <a:latin typeface="汉仪旗黑-75S" panose="00020600040101010101" charset="-122"/>
              <a:ea typeface="汉仪旗黑-75S" panose="00020600040101010101" charset="-122"/>
              <a:sym typeface="+mn-ea"/>
            </a:endParaRPr>
          </a:p>
        </p:txBody>
      </p:sp>
      <p:sp>
        <p:nvSpPr>
          <p:cNvPr id="57" name="椭圆 56"/>
          <p:cNvSpPr/>
          <p:nvPr>
            <p:custDataLst>
              <p:tags r:id="rId10"/>
            </p:custDataLst>
          </p:nvPr>
        </p:nvSpPr>
        <p:spPr>
          <a:xfrm>
            <a:off x="6882498" y="2236002"/>
            <a:ext cx="684052" cy="684052"/>
          </a:xfrm>
          <a:prstGeom prst="ellipse">
            <a:avLst/>
          </a:prstGeom>
          <a:gradFill>
            <a:gsLst>
              <a:gs pos="76000">
                <a:srgbClr val="367212"/>
              </a:gs>
              <a:gs pos="100000">
                <a:srgbClr val="36AE02"/>
              </a:gs>
              <a:gs pos="0">
                <a:srgbClr val="76BC30"/>
              </a:gs>
              <a:gs pos="60000">
                <a:srgbClr val="36721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317500" dist="152400" dir="2700000" algn="tl" rotWithShape="0">
              <a:srgbClr val="22A13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2000">
              <a:latin typeface="汉仪旗黑-75S" panose="00020600040101010101" charset="-122"/>
              <a:ea typeface="汉仪旗黑-75S" panose="00020600040101010101" charset="-122"/>
              <a:sym typeface="+mn-ea"/>
            </a:endParaRPr>
          </a:p>
        </p:txBody>
      </p:sp>
      <p:sp>
        <p:nvSpPr>
          <p:cNvPr id="58" name="椭圆 57"/>
          <p:cNvSpPr/>
          <p:nvPr>
            <p:custDataLst>
              <p:tags r:id="rId11"/>
            </p:custDataLst>
          </p:nvPr>
        </p:nvSpPr>
        <p:spPr>
          <a:xfrm>
            <a:off x="4624180" y="4588677"/>
            <a:ext cx="684052" cy="684052"/>
          </a:xfrm>
          <a:prstGeom prst="ellipse">
            <a:avLst/>
          </a:prstGeom>
          <a:gradFill>
            <a:gsLst>
              <a:gs pos="76000">
                <a:srgbClr val="367212"/>
              </a:gs>
              <a:gs pos="100000">
                <a:srgbClr val="36AE02"/>
              </a:gs>
              <a:gs pos="0">
                <a:srgbClr val="76BC30"/>
              </a:gs>
              <a:gs pos="60000">
                <a:srgbClr val="36721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317500" dist="152400" dir="2700000" algn="tl" rotWithShape="0">
              <a:srgbClr val="22A13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2000">
              <a:latin typeface="汉仪旗黑-75S" panose="00020600040101010101" charset="-122"/>
              <a:ea typeface="汉仪旗黑-75S" panose="00020600040101010101" charset="-122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2"/>
            </p:custDataLst>
          </p:nvPr>
        </p:nvSpPr>
        <p:spPr>
          <a:xfrm>
            <a:off x="851535" y="1889760"/>
            <a:ext cx="3255010" cy="1379855"/>
          </a:xfrm>
          <a:prstGeom prst="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36AE02"/>
                </a:gs>
                <a:gs pos="83000">
                  <a:srgbClr val="76BC3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609600" dist="228600" dir="2700000" algn="tl" rotWithShape="0">
              <a:srgbClr val="3A7F15">
                <a:alpha val="40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9" name="椭圆 58"/>
          <p:cNvSpPr/>
          <p:nvPr>
            <p:custDataLst>
              <p:tags r:id="rId13"/>
            </p:custDataLst>
          </p:nvPr>
        </p:nvSpPr>
        <p:spPr>
          <a:xfrm>
            <a:off x="6882498" y="4588677"/>
            <a:ext cx="684052" cy="684052"/>
          </a:xfrm>
          <a:prstGeom prst="ellipse">
            <a:avLst/>
          </a:prstGeom>
          <a:gradFill>
            <a:gsLst>
              <a:gs pos="76000">
                <a:srgbClr val="367212"/>
              </a:gs>
              <a:gs pos="100000">
                <a:srgbClr val="36AE02"/>
              </a:gs>
              <a:gs pos="0">
                <a:srgbClr val="76BC30"/>
              </a:gs>
              <a:gs pos="60000">
                <a:srgbClr val="36721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317500" dist="152400" dir="2700000" algn="tl" rotWithShape="0">
              <a:srgbClr val="22A13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2000">
              <a:latin typeface="汉仪旗黑-75S" panose="00020600040101010101" charset="-122"/>
              <a:ea typeface="汉仪旗黑-75S" panose="00020600040101010101" charset="-122"/>
              <a:sym typeface="+mn-ea"/>
            </a:endParaRPr>
          </a:p>
        </p:txBody>
      </p:sp>
      <p:sp>
        <p:nvSpPr>
          <p:cNvPr id="60" name="文本框 59"/>
          <p:cNvSpPr txBox="1"/>
          <p:nvPr>
            <p:custDataLst>
              <p:tags r:id="rId14"/>
            </p:custDataLst>
          </p:nvPr>
        </p:nvSpPr>
        <p:spPr>
          <a:xfrm>
            <a:off x="1170356" y="2272145"/>
            <a:ext cx="24384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zh-CN" altLang="en-US" sz="2400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</a:rPr>
              <a:t>探索详细计划</a:t>
            </a:r>
            <a:r>
              <a:rPr lang="zh-CN" altLang="en-US" sz="2400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</a:rPr>
              <a:t>机制</a:t>
            </a:r>
            <a:endParaRPr lang="zh-CN" altLang="en-US" sz="2400" dirty="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75S" panose="00020600040101010101" charset="-122"/>
              <a:ea typeface="汉仪旗黑-75S" panose="00020600040101010101" charset="-122"/>
            </a:endParaRPr>
          </a:p>
        </p:txBody>
      </p:sp>
      <p:sp>
        <p:nvSpPr>
          <p:cNvPr id="62" name="shop_346547"/>
          <p:cNvSpPr/>
          <p:nvPr>
            <p:custDataLst>
              <p:tags r:id="rId15"/>
            </p:custDataLst>
          </p:nvPr>
        </p:nvSpPr>
        <p:spPr>
          <a:xfrm>
            <a:off x="4795108" y="2380609"/>
            <a:ext cx="332670" cy="332587"/>
          </a:xfrm>
          <a:custGeom>
            <a:avLst/>
            <a:gdLst>
              <a:gd name="connsiteX0" fmla="*/ 339625 w 606239"/>
              <a:gd name="connsiteY0" fmla="*/ 410867 h 606087"/>
              <a:gd name="connsiteX1" fmla="*/ 339625 w 606239"/>
              <a:gd name="connsiteY1" fmla="*/ 511555 h 606087"/>
              <a:gd name="connsiteX2" fmla="*/ 486677 w 606239"/>
              <a:gd name="connsiteY2" fmla="*/ 511555 h 606087"/>
              <a:gd name="connsiteX3" fmla="*/ 486677 w 606239"/>
              <a:gd name="connsiteY3" fmla="*/ 410867 h 606087"/>
              <a:gd name="connsiteX4" fmla="*/ 117843 w 606239"/>
              <a:gd name="connsiteY4" fmla="*/ 298351 h 606087"/>
              <a:gd name="connsiteX5" fmla="*/ 179572 w 606239"/>
              <a:gd name="connsiteY5" fmla="*/ 324124 h 606087"/>
              <a:gd name="connsiteX6" fmla="*/ 241302 w 606239"/>
              <a:gd name="connsiteY6" fmla="*/ 298351 h 606087"/>
              <a:gd name="connsiteX7" fmla="*/ 303127 w 606239"/>
              <a:gd name="connsiteY7" fmla="*/ 324124 h 606087"/>
              <a:gd name="connsiteX8" fmla="*/ 364856 w 606239"/>
              <a:gd name="connsiteY8" fmla="*/ 298351 h 606087"/>
              <a:gd name="connsiteX9" fmla="*/ 426585 w 606239"/>
              <a:gd name="connsiteY9" fmla="*/ 324124 h 606087"/>
              <a:gd name="connsiteX10" fmla="*/ 488411 w 606239"/>
              <a:gd name="connsiteY10" fmla="*/ 298351 h 606087"/>
              <a:gd name="connsiteX11" fmla="*/ 550140 w 606239"/>
              <a:gd name="connsiteY11" fmla="*/ 324124 h 606087"/>
              <a:gd name="connsiteX12" fmla="*/ 559385 w 606239"/>
              <a:gd name="connsiteY12" fmla="*/ 323547 h 606087"/>
              <a:gd name="connsiteX13" fmla="*/ 559385 w 606239"/>
              <a:gd name="connsiteY13" fmla="*/ 606087 h 606087"/>
              <a:gd name="connsiteX14" fmla="*/ 269518 w 606239"/>
              <a:gd name="connsiteY14" fmla="*/ 606087 h 606087"/>
              <a:gd name="connsiteX15" fmla="*/ 269518 w 606239"/>
              <a:gd name="connsiteY15" fmla="*/ 410867 h 606087"/>
              <a:gd name="connsiteX16" fmla="*/ 123525 w 606239"/>
              <a:gd name="connsiteY16" fmla="*/ 410867 h 606087"/>
              <a:gd name="connsiteX17" fmla="*/ 123525 w 606239"/>
              <a:gd name="connsiteY17" fmla="*/ 606087 h 606087"/>
              <a:gd name="connsiteX18" fmla="*/ 46869 w 606239"/>
              <a:gd name="connsiteY18" fmla="*/ 606087 h 606087"/>
              <a:gd name="connsiteX19" fmla="*/ 46869 w 606239"/>
              <a:gd name="connsiteY19" fmla="*/ 323547 h 606087"/>
              <a:gd name="connsiteX20" fmla="*/ 56018 w 606239"/>
              <a:gd name="connsiteY20" fmla="*/ 324124 h 606087"/>
              <a:gd name="connsiteX21" fmla="*/ 117843 w 606239"/>
              <a:gd name="connsiteY21" fmla="*/ 298351 h 606087"/>
              <a:gd name="connsiteX22" fmla="*/ 194887 w 606239"/>
              <a:gd name="connsiteY22" fmla="*/ 0 h 606087"/>
              <a:gd name="connsiteX23" fmla="*/ 411297 w 606239"/>
              <a:gd name="connsiteY23" fmla="*/ 0 h 606087"/>
              <a:gd name="connsiteX24" fmla="*/ 411297 w 606239"/>
              <a:gd name="connsiteY24" fmla="*/ 55101 h 606087"/>
              <a:gd name="connsiteX25" fmla="*/ 509053 w 606239"/>
              <a:gd name="connsiteY25" fmla="*/ 55101 h 606087"/>
              <a:gd name="connsiteX26" fmla="*/ 599489 w 606239"/>
              <a:gd name="connsiteY26" fmla="*/ 213287 h 606087"/>
              <a:gd name="connsiteX27" fmla="*/ 557401 w 606239"/>
              <a:gd name="connsiteY27" fmla="*/ 298390 h 606087"/>
              <a:gd name="connsiteX28" fmla="*/ 550178 w 606239"/>
              <a:gd name="connsiteY28" fmla="*/ 298774 h 606087"/>
              <a:gd name="connsiteX29" fmla="*/ 488442 w 606239"/>
              <a:gd name="connsiteY29" fmla="*/ 237135 h 606087"/>
              <a:gd name="connsiteX30" fmla="*/ 426611 w 606239"/>
              <a:gd name="connsiteY30" fmla="*/ 298774 h 606087"/>
              <a:gd name="connsiteX31" fmla="*/ 364875 w 606239"/>
              <a:gd name="connsiteY31" fmla="*/ 237135 h 606087"/>
              <a:gd name="connsiteX32" fmla="*/ 303140 w 606239"/>
              <a:gd name="connsiteY32" fmla="*/ 298774 h 606087"/>
              <a:gd name="connsiteX33" fmla="*/ 241309 w 606239"/>
              <a:gd name="connsiteY33" fmla="*/ 237135 h 606087"/>
              <a:gd name="connsiteX34" fmla="*/ 179573 w 606239"/>
              <a:gd name="connsiteY34" fmla="*/ 298774 h 606087"/>
              <a:gd name="connsiteX35" fmla="*/ 117838 w 606239"/>
              <a:gd name="connsiteY35" fmla="*/ 237135 h 606087"/>
              <a:gd name="connsiteX36" fmla="*/ 56007 w 606239"/>
              <a:gd name="connsiteY36" fmla="*/ 298774 h 606087"/>
              <a:gd name="connsiteX37" fmla="*/ 48880 w 606239"/>
              <a:gd name="connsiteY37" fmla="*/ 298390 h 606087"/>
              <a:gd name="connsiteX38" fmla="*/ 6792 w 606239"/>
              <a:gd name="connsiteY38" fmla="*/ 213287 h 606087"/>
              <a:gd name="connsiteX39" fmla="*/ 97228 w 606239"/>
              <a:gd name="connsiteY39" fmla="*/ 55101 h 606087"/>
              <a:gd name="connsiteX40" fmla="*/ 194887 w 606239"/>
              <a:gd name="connsiteY40" fmla="*/ 55101 h 606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06239" h="606087">
                <a:moveTo>
                  <a:pt x="339625" y="410867"/>
                </a:moveTo>
                <a:lnTo>
                  <a:pt x="339625" y="511555"/>
                </a:lnTo>
                <a:lnTo>
                  <a:pt x="486677" y="511555"/>
                </a:lnTo>
                <a:lnTo>
                  <a:pt x="486677" y="410867"/>
                </a:lnTo>
                <a:close/>
                <a:moveTo>
                  <a:pt x="117843" y="298351"/>
                </a:moveTo>
                <a:cubicBezTo>
                  <a:pt x="133637" y="314315"/>
                  <a:pt x="155497" y="324124"/>
                  <a:pt x="179572" y="324124"/>
                </a:cubicBezTo>
                <a:cubicBezTo>
                  <a:pt x="203744" y="324124"/>
                  <a:pt x="225604" y="314315"/>
                  <a:pt x="241302" y="298351"/>
                </a:cubicBezTo>
                <a:cubicBezTo>
                  <a:pt x="257095" y="314315"/>
                  <a:pt x="278955" y="324124"/>
                  <a:pt x="303127" y="324124"/>
                </a:cubicBezTo>
                <a:cubicBezTo>
                  <a:pt x="327202" y="324124"/>
                  <a:pt x="349063" y="314315"/>
                  <a:pt x="364856" y="298351"/>
                </a:cubicBezTo>
                <a:cubicBezTo>
                  <a:pt x="380650" y="314315"/>
                  <a:pt x="402510" y="324124"/>
                  <a:pt x="426585" y="324124"/>
                </a:cubicBezTo>
                <a:cubicBezTo>
                  <a:pt x="450757" y="324124"/>
                  <a:pt x="472617" y="314315"/>
                  <a:pt x="488411" y="298351"/>
                </a:cubicBezTo>
                <a:cubicBezTo>
                  <a:pt x="504204" y="314315"/>
                  <a:pt x="526065" y="324124"/>
                  <a:pt x="550140" y="324124"/>
                </a:cubicBezTo>
                <a:cubicBezTo>
                  <a:pt x="553222" y="324124"/>
                  <a:pt x="556303" y="323932"/>
                  <a:pt x="559385" y="323547"/>
                </a:cubicBezTo>
                <a:lnTo>
                  <a:pt x="559385" y="606087"/>
                </a:lnTo>
                <a:lnTo>
                  <a:pt x="269518" y="606087"/>
                </a:lnTo>
                <a:lnTo>
                  <a:pt x="269518" y="410867"/>
                </a:lnTo>
                <a:lnTo>
                  <a:pt x="123525" y="410867"/>
                </a:lnTo>
                <a:lnTo>
                  <a:pt x="123525" y="606087"/>
                </a:lnTo>
                <a:lnTo>
                  <a:pt x="46869" y="606087"/>
                </a:lnTo>
                <a:lnTo>
                  <a:pt x="46869" y="323547"/>
                </a:lnTo>
                <a:cubicBezTo>
                  <a:pt x="49854" y="323932"/>
                  <a:pt x="52936" y="324124"/>
                  <a:pt x="56018" y="324124"/>
                </a:cubicBezTo>
                <a:cubicBezTo>
                  <a:pt x="80189" y="324124"/>
                  <a:pt x="102050" y="314315"/>
                  <a:pt x="117843" y="298351"/>
                </a:cubicBezTo>
                <a:close/>
                <a:moveTo>
                  <a:pt x="194887" y="0"/>
                </a:moveTo>
                <a:lnTo>
                  <a:pt x="411297" y="0"/>
                </a:lnTo>
                <a:lnTo>
                  <a:pt x="411297" y="55101"/>
                </a:lnTo>
                <a:lnTo>
                  <a:pt x="509053" y="55101"/>
                </a:lnTo>
                <a:lnTo>
                  <a:pt x="599489" y="213287"/>
                </a:lnTo>
                <a:cubicBezTo>
                  <a:pt x="617884" y="248578"/>
                  <a:pt x="596985" y="293774"/>
                  <a:pt x="557401" y="298390"/>
                </a:cubicBezTo>
                <a:cubicBezTo>
                  <a:pt x="554993" y="298678"/>
                  <a:pt x="552585" y="298774"/>
                  <a:pt x="550178" y="298774"/>
                </a:cubicBezTo>
                <a:cubicBezTo>
                  <a:pt x="516083" y="298774"/>
                  <a:pt x="488442" y="271176"/>
                  <a:pt x="488442" y="237135"/>
                </a:cubicBezTo>
                <a:cubicBezTo>
                  <a:pt x="488442" y="271176"/>
                  <a:pt x="460801" y="298774"/>
                  <a:pt x="426611" y="298774"/>
                </a:cubicBezTo>
                <a:cubicBezTo>
                  <a:pt x="392517" y="298774"/>
                  <a:pt x="364875" y="271176"/>
                  <a:pt x="364875" y="237135"/>
                </a:cubicBezTo>
                <a:cubicBezTo>
                  <a:pt x="364875" y="271176"/>
                  <a:pt x="337234" y="298774"/>
                  <a:pt x="303140" y="298774"/>
                </a:cubicBezTo>
                <a:cubicBezTo>
                  <a:pt x="269046" y="298774"/>
                  <a:pt x="241309" y="271176"/>
                  <a:pt x="241309" y="237135"/>
                </a:cubicBezTo>
                <a:cubicBezTo>
                  <a:pt x="241309" y="271176"/>
                  <a:pt x="213667" y="298774"/>
                  <a:pt x="179573" y="298774"/>
                </a:cubicBezTo>
                <a:cubicBezTo>
                  <a:pt x="145479" y="298774"/>
                  <a:pt x="117838" y="271176"/>
                  <a:pt x="117838" y="237135"/>
                </a:cubicBezTo>
                <a:cubicBezTo>
                  <a:pt x="117838" y="271176"/>
                  <a:pt x="90197" y="298774"/>
                  <a:pt x="56007" y="298774"/>
                </a:cubicBezTo>
                <a:cubicBezTo>
                  <a:pt x="53599" y="298774"/>
                  <a:pt x="51191" y="298678"/>
                  <a:pt x="48880" y="298390"/>
                </a:cubicBezTo>
                <a:cubicBezTo>
                  <a:pt x="9296" y="293774"/>
                  <a:pt x="-11700" y="248578"/>
                  <a:pt x="6792" y="213287"/>
                </a:cubicBezTo>
                <a:lnTo>
                  <a:pt x="97228" y="55101"/>
                </a:lnTo>
                <a:lnTo>
                  <a:pt x="194887" y="5510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shop_346547"/>
          <p:cNvSpPr/>
          <p:nvPr>
            <p:custDataLst>
              <p:tags r:id="rId16"/>
            </p:custDataLst>
          </p:nvPr>
        </p:nvSpPr>
        <p:spPr>
          <a:xfrm>
            <a:off x="4803278" y="4743563"/>
            <a:ext cx="316329" cy="332670"/>
          </a:xfrm>
          <a:custGeom>
            <a:avLst/>
            <a:gdLst>
              <a:gd name="T0" fmla="*/ 327 w 354"/>
              <a:gd name="T1" fmla="*/ 260 h 373"/>
              <a:gd name="T2" fmla="*/ 99 w 354"/>
              <a:gd name="T3" fmla="*/ 286 h 373"/>
              <a:gd name="T4" fmla="*/ 0 w 354"/>
              <a:gd name="T5" fmla="*/ 95 h 373"/>
              <a:gd name="T6" fmla="*/ 78 w 354"/>
              <a:gd name="T7" fmla="*/ 70 h 373"/>
              <a:gd name="T8" fmla="*/ 144 w 354"/>
              <a:gd name="T9" fmla="*/ 303 h 373"/>
              <a:gd name="T10" fmla="*/ 144 w 354"/>
              <a:gd name="T11" fmla="*/ 373 h 373"/>
              <a:gd name="T12" fmla="*/ 144 w 354"/>
              <a:gd name="T13" fmla="*/ 303 h 373"/>
              <a:gd name="T14" fmla="*/ 253 w 354"/>
              <a:gd name="T15" fmla="*/ 338 h 373"/>
              <a:gd name="T16" fmla="*/ 323 w 354"/>
              <a:gd name="T17" fmla="*/ 338 h 373"/>
              <a:gd name="T18" fmla="*/ 133 w 354"/>
              <a:gd name="T19" fmla="*/ 240 h 373"/>
              <a:gd name="T20" fmla="*/ 153 w 354"/>
              <a:gd name="T21" fmla="*/ 82 h 373"/>
              <a:gd name="T22" fmla="*/ 314 w 354"/>
              <a:gd name="T23" fmla="*/ 68 h 373"/>
              <a:gd name="T24" fmla="*/ 354 w 354"/>
              <a:gd name="T25" fmla="*/ 82 h 373"/>
              <a:gd name="T26" fmla="*/ 133 w 354"/>
              <a:gd name="T27" fmla="*/ 240 h 373"/>
              <a:gd name="T28" fmla="*/ 294 w 354"/>
              <a:gd name="T29" fmla="*/ 82 h 373"/>
              <a:gd name="T30" fmla="*/ 305 w 354"/>
              <a:gd name="T31" fmla="*/ 73 h 373"/>
              <a:gd name="T32" fmla="*/ 191 w 354"/>
              <a:gd name="T33" fmla="*/ 82 h 373"/>
              <a:gd name="T34" fmla="*/ 194 w 354"/>
              <a:gd name="T35" fmla="*/ 76 h 373"/>
              <a:gd name="T36" fmla="*/ 205 w 354"/>
              <a:gd name="T37" fmla="*/ 82 h 373"/>
              <a:gd name="T38" fmla="*/ 204 w 354"/>
              <a:gd name="T39" fmla="*/ 69 h 373"/>
              <a:gd name="T40" fmla="*/ 220 w 354"/>
              <a:gd name="T41" fmla="*/ 82 h 373"/>
              <a:gd name="T42" fmla="*/ 213 w 354"/>
              <a:gd name="T43" fmla="*/ 62 h 373"/>
              <a:gd name="T44" fmla="*/ 236 w 354"/>
              <a:gd name="T45" fmla="*/ 82 h 373"/>
              <a:gd name="T46" fmla="*/ 224 w 354"/>
              <a:gd name="T47" fmla="*/ 54 h 373"/>
              <a:gd name="T48" fmla="*/ 251 w 354"/>
              <a:gd name="T49" fmla="*/ 82 h 373"/>
              <a:gd name="T50" fmla="*/ 234 w 354"/>
              <a:gd name="T51" fmla="*/ 47 h 373"/>
              <a:gd name="T52" fmla="*/ 281 w 354"/>
              <a:gd name="T53" fmla="*/ 82 h 373"/>
              <a:gd name="T54" fmla="*/ 262 w 354"/>
              <a:gd name="T55" fmla="*/ 10 h 373"/>
              <a:gd name="T56" fmla="*/ 281 w 354"/>
              <a:gd name="T57" fmla="*/ 71 h 373"/>
              <a:gd name="T58" fmla="*/ 248 w 354"/>
              <a:gd name="T59" fmla="*/ 37 h 373"/>
              <a:gd name="T60" fmla="*/ 281 w 354"/>
              <a:gd name="T61" fmla="*/ 71 h 373"/>
              <a:gd name="T62" fmla="*/ 243 w 354"/>
              <a:gd name="T63" fmla="*/ 40 h 373"/>
              <a:gd name="T64" fmla="*/ 266 w 354"/>
              <a:gd name="T65" fmla="*/ 82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54" h="373">
                <a:moveTo>
                  <a:pt x="120" y="260"/>
                </a:moveTo>
                <a:lnTo>
                  <a:pt x="327" y="260"/>
                </a:lnTo>
                <a:lnTo>
                  <a:pt x="327" y="286"/>
                </a:lnTo>
                <a:lnTo>
                  <a:pt x="99" y="286"/>
                </a:lnTo>
                <a:lnTo>
                  <a:pt x="58" y="95"/>
                </a:lnTo>
                <a:lnTo>
                  <a:pt x="0" y="95"/>
                </a:lnTo>
                <a:lnTo>
                  <a:pt x="0" y="70"/>
                </a:lnTo>
                <a:lnTo>
                  <a:pt x="78" y="70"/>
                </a:lnTo>
                <a:lnTo>
                  <a:pt x="120" y="260"/>
                </a:lnTo>
                <a:close/>
                <a:moveTo>
                  <a:pt x="144" y="303"/>
                </a:moveTo>
                <a:cubicBezTo>
                  <a:pt x="124" y="303"/>
                  <a:pt x="109" y="318"/>
                  <a:pt x="109" y="338"/>
                </a:cubicBezTo>
                <a:cubicBezTo>
                  <a:pt x="109" y="357"/>
                  <a:pt x="124" y="373"/>
                  <a:pt x="144" y="373"/>
                </a:cubicBezTo>
                <a:cubicBezTo>
                  <a:pt x="163" y="373"/>
                  <a:pt x="179" y="357"/>
                  <a:pt x="179" y="338"/>
                </a:cubicBezTo>
                <a:cubicBezTo>
                  <a:pt x="179" y="318"/>
                  <a:pt x="163" y="303"/>
                  <a:pt x="144" y="303"/>
                </a:cubicBezTo>
                <a:close/>
                <a:moveTo>
                  <a:pt x="288" y="303"/>
                </a:moveTo>
                <a:cubicBezTo>
                  <a:pt x="268" y="303"/>
                  <a:pt x="253" y="318"/>
                  <a:pt x="253" y="338"/>
                </a:cubicBezTo>
                <a:cubicBezTo>
                  <a:pt x="253" y="357"/>
                  <a:pt x="268" y="373"/>
                  <a:pt x="288" y="373"/>
                </a:cubicBezTo>
                <a:cubicBezTo>
                  <a:pt x="307" y="373"/>
                  <a:pt x="323" y="357"/>
                  <a:pt x="323" y="338"/>
                </a:cubicBezTo>
                <a:cubicBezTo>
                  <a:pt x="323" y="318"/>
                  <a:pt x="307" y="303"/>
                  <a:pt x="288" y="303"/>
                </a:cubicBezTo>
                <a:close/>
                <a:moveTo>
                  <a:pt x="133" y="240"/>
                </a:moveTo>
                <a:lnTo>
                  <a:pt x="103" y="82"/>
                </a:lnTo>
                <a:lnTo>
                  <a:pt x="153" y="82"/>
                </a:lnTo>
                <a:lnTo>
                  <a:pt x="264" y="0"/>
                </a:lnTo>
                <a:lnTo>
                  <a:pt x="314" y="68"/>
                </a:lnTo>
                <a:lnTo>
                  <a:pt x="311" y="82"/>
                </a:lnTo>
                <a:lnTo>
                  <a:pt x="354" y="82"/>
                </a:lnTo>
                <a:lnTo>
                  <a:pt x="319" y="240"/>
                </a:lnTo>
                <a:lnTo>
                  <a:pt x="133" y="240"/>
                </a:lnTo>
                <a:close/>
                <a:moveTo>
                  <a:pt x="305" y="73"/>
                </a:moveTo>
                <a:lnTo>
                  <a:pt x="294" y="82"/>
                </a:lnTo>
                <a:lnTo>
                  <a:pt x="304" y="82"/>
                </a:lnTo>
                <a:lnTo>
                  <a:pt x="305" y="73"/>
                </a:lnTo>
                <a:close/>
                <a:moveTo>
                  <a:pt x="165" y="82"/>
                </a:moveTo>
                <a:lnTo>
                  <a:pt x="191" y="82"/>
                </a:lnTo>
                <a:lnTo>
                  <a:pt x="189" y="80"/>
                </a:lnTo>
                <a:lnTo>
                  <a:pt x="194" y="76"/>
                </a:lnTo>
                <a:lnTo>
                  <a:pt x="199" y="82"/>
                </a:lnTo>
                <a:lnTo>
                  <a:pt x="205" y="82"/>
                </a:lnTo>
                <a:lnTo>
                  <a:pt x="199" y="73"/>
                </a:lnTo>
                <a:lnTo>
                  <a:pt x="204" y="69"/>
                </a:lnTo>
                <a:lnTo>
                  <a:pt x="213" y="82"/>
                </a:lnTo>
                <a:lnTo>
                  <a:pt x="220" y="82"/>
                </a:lnTo>
                <a:lnTo>
                  <a:pt x="208" y="66"/>
                </a:lnTo>
                <a:lnTo>
                  <a:pt x="213" y="62"/>
                </a:lnTo>
                <a:lnTo>
                  <a:pt x="228" y="82"/>
                </a:lnTo>
                <a:lnTo>
                  <a:pt x="236" y="82"/>
                </a:lnTo>
                <a:lnTo>
                  <a:pt x="219" y="58"/>
                </a:lnTo>
                <a:lnTo>
                  <a:pt x="224" y="54"/>
                </a:lnTo>
                <a:lnTo>
                  <a:pt x="244" y="82"/>
                </a:lnTo>
                <a:lnTo>
                  <a:pt x="251" y="82"/>
                </a:lnTo>
                <a:lnTo>
                  <a:pt x="229" y="51"/>
                </a:lnTo>
                <a:lnTo>
                  <a:pt x="234" y="47"/>
                </a:lnTo>
                <a:lnTo>
                  <a:pt x="259" y="82"/>
                </a:lnTo>
                <a:lnTo>
                  <a:pt x="281" y="82"/>
                </a:lnTo>
                <a:lnTo>
                  <a:pt x="303" y="66"/>
                </a:lnTo>
                <a:lnTo>
                  <a:pt x="262" y="10"/>
                </a:lnTo>
                <a:lnTo>
                  <a:pt x="165" y="82"/>
                </a:lnTo>
                <a:close/>
                <a:moveTo>
                  <a:pt x="281" y="71"/>
                </a:moveTo>
                <a:lnTo>
                  <a:pt x="253" y="33"/>
                </a:lnTo>
                <a:lnTo>
                  <a:pt x="248" y="37"/>
                </a:lnTo>
                <a:lnTo>
                  <a:pt x="276" y="74"/>
                </a:lnTo>
                <a:lnTo>
                  <a:pt x="281" y="71"/>
                </a:lnTo>
                <a:close/>
                <a:moveTo>
                  <a:pt x="271" y="78"/>
                </a:moveTo>
                <a:lnTo>
                  <a:pt x="243" y="40"/>
                </a:lnTo>
                <a:lnTo>
                  <a:pt x="238" y="44"/>
                </a:lnTo>
                <a:lnTo>
                  <a:pt x="266" y="82"/>
                </a:lnTo>
                <a:lnTo>
                  <a:pt x="271" y="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4" name="shop_346547"/>
          <p:cNvSpPr/>
          <p:nvPr>
            <p:custDataLst>
              <p:tags r:id="rId17"/>
            </p:custDataLst>
          </p:nvPr>
        </p:nvSpPr>
        <p:spPr>
          <a:xfrm>
            <a:off x="7057584" y="4743773"/>
            <a:ext cx="332670" cy="332250"/>
          </a:xfrm>
          <a:custGeom>
            <a:avLst/>
            <a:gdLst>
              <a:gd name="T0" fmla="*/ 5136 w 5158"/>
              <a:gd name="T1" fmla="*/ 1919 h 5159"/>
              <a:gd name="T2" fmla="*/ 4927 w 5158"/>
              <a:gd name="T3" fmla="*/ 600 h 5159"/>
              <a:gd name="T4" fmla="*/ 4559 w 5158"/>
              <a:gd name="T5" fmla="*/ 232 h 5159"/>
              <a:gd name="T6" fmla="*/ 3240 w 5158"/>
              <a:gd name="T7" fmla="*/ 22 h 5159"/>
              <a:gd name="T8" fmla="*/ 2858 w 5158"/>
              <a:gd name="T9" fmla="*/ 147 h 5159"/>
              <a:gd name="T10" fmla="*/ 173 w 5158"/>
              <a:gd name="T11" fmla="*/ 2831 h 5159"/>
              <a:gd name="T12" fmla="*/ 173 w 5158"/>
              <a:gd name="T13" fmla="*/ 3457 h 5159"/>
              <a:gd name="T14" fmla="*/ 1701 w 5158"/>
              <a:gd name="T15" fmla="*/ 4986 h 5159"/>
              <a:gd name="T16" fmla="*/ 2327 w 5158"/>
              <a:gd name="T17" fmla="*/ 4986 h 5159"/>
              <a:gd name="T18" fmla="*/ 5012 w 5158"/>
              <a:gd name="T19" fmla="*/ 2301 h 5159"/>
              <a:gd name="T20" fmla="*/ 5136 w 5158"/>
              <a:gd name="T21" fmla="*/ 1919 h 5159"/>
              <a:gd name="T22" fmla="*/ 2212 w 5158"/>
              <a:gd name="T23" fmla="*/ 4643 h 5159"/>
              <a:gd name="T24" fmla="*/ 1968 w 5158"/>
              <a:gd name="T25" fmla="*/ 4643 h 5159"/>
              <a:gd name="T26" fmla="*/ 515 w 5158"/>
              <a:gd name="T27" fmla="*/ 3191 h 5159"/>
              <a:gd name="T28" fmla="*/ 515 w 5158"/>
              <a:gd name="T29" fmla="*/ 2946 h 5159"/>
              <a:gd name="T30" fmla="*/ 760 w 5158"/>
              <a:gd name="T31" fmla="*/ 2946 h 5159"/>
              <a:gd name="T32" fmla="*/ 2212 w 5158"/>
              <a:gd name="T33" fmla="*/ 4399 h 5159"/>
              <a:gd name="T34" fmla="*/ 2212 w 5158"/>
              <a:gd name="T35" fmla="*/ 4643 h 5159"/>
              <a:gd name="T36" fmla="*/ 4166 w 5158"/>
              <a:gd name="T37" fmla="*/ 1464 h 5159"/>
              <a:gd name="T38" fmla="*/ 3695 w 5158"/>
              <a:gd name="T39" fmla="*/ 1464 h 5159"/>
              <a:gd name="T40" fmla="*/ 3695 w 5158"/>
              <a:gd name="T41" fmla="*/ 993 h 5159"/>
              <a:gd name="T42" fmla="*/ 4166 w 5158"/>
              <a:gd name="T43" fmla="*/ 993 h 5159"/>
              <a:gd name="T44" fmla="*/ 4166 w 5158"/>
              <a:gd name="T45" fmla="*/ 1464 h 5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5158" h="5159">
                <a:moveTo>
                  <a:pt x="5136" y="1919"/>
                </a:moveTo>
                <a:lnTo>
                  <a:pt x="4927" y="600"/>
                </a:lnTo>
                <a:cubicBezTo>
                  <a:pt x="4897" y="411"/>
                  <a:pt x="4748" y="262"/>
                  <a:pt x="4559" y="232"/>
                </a:cubicBezTo>
                <a:lnTo>
                  <a:pt x="3240" y="22"/>
                </a:lnTo>
                <a:cubicBezTo>
                  <a:pt x="3100" y="0"/>
                  <a:pt x="2958" y="46"/>
                  <a:pt x="2858" y="147"/>
                </a:cubicBezTo>
                <a:lnTo>
                  <a:pt x="173" y="2831"/>
                </a:lnTo>
                <a:cubicBezTo>
                  <a:pt x="0" y="3004"/>
                  <a:pt x="0" y="3285"/>
                  <a:pt x="173" y="3457"/>
                </a:cubicBezTo>
                <a:lnTo>
                  <a:pt x="1701" y="4986"/>
                </a:lnTo>
                <a:cubicBezTo>
                  <a:pt x="1874" y="5159"/>
                  <a:pt x="2154" y="5159"/>
                  <a:pt x="2327" y="4986"/>
                </a:cubicBezTo>
                <a:lnTo>
                  <a:pt x="5012" y="2301"/>
                </a:lnTo>
                <a:cubicBezTo>
                  <a:pt x="5112" y="2201"/>
                  <a:pt x="5158" y="2059"/>
                  <a:pt x="5136" y="1919"/>
                </a:cubicBezTo>
                <a:close/>
                <a:moveTo>
                  <a:pt x="2212" y="4643"/>
                </a:moveTo>
                <a:cubicBezTo>
                  <a:pt x="2145" y="4711"/>
                  <a:pt x="2035" y="4711"/>
                  <a:pt x="1968" y="4643"/>
                </a:cubicBezTo>
                <a:lnTo>
                  <a:pt x="515" y="3191"/>
                </a:lnTo>
                <a:cubicBezTo>
                  <a:pt x="448" y="3124"/>
                  <a:pt x="448" y="3014"/>
                  <a:pt x="515" y="2946"/>
                </a:cubicBezTo>
                <a:cubicBezTo>
                  <a:pt x="583" y="2879"/>
                  <a:pt x="692" y="2879"/>
                  <a:pt x="760" y="2946"/>
                </a:cubicBezTo>
                <a:lnTo>
                  <a:pt x="2212" y="4399"/>
                </a:lnTo>
                <a:cubicBezTo>
                  <a:pt x="2280" y="4466"/>
                  <a:pt x="2280" y="4576"/>
                  <a:pt x="2212" y="4643"/>
                </a:cubicBezTo>
                <a:close/>
                <a:moveTo>
                  <a:pt x="4166" y="1464"/>
                </a:moveTo>
                <a:cubicBezTo>
                  <a:pt x="4036" y="1594"/>
                  <a:pt x="3825" y="1594"/>
                  <a:pt x="3695" y="1464"/>
                </a:cubicBezTo>
                <a:cubicBezTo>
                  <a:pt x="3565" y="1334"/>
                  <a:pt x="3565" y="1123"/>
                  <a:pt x="3695" y="993"/>
                </a:cubicBezTo>
                <a:cubicBezTo>
                  <a:pt x="3825" y="862"/>
                  <a:pt x="4036" y="862"/>
                  <a:pt x="4166" y="993"/>
                </a:cubicBezTo>
                <a:cubicBezTo>
                  <a:pt x="4296" y="1123"/>
                  <a:pt x="4296" y="1334"/>
                  <a:pt x="4166" y="14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5" name="shop_346547"/>
          <p:cNvSpPr/>
          <p:nvPr>
            <p:custDataLst>
              <p:tags r:id="rId18"/>
            </p:custDataLst>
          </p:nvPr>
        </p:nvSpPr>
        <p:spPr>
          <a:xfrm>
            <a:off x="7057584" y="2435805"/>
            <a:ext cx="332670" cy="259962"/>
          </a:xfrm>
          <a:custGeom>
            <a:avLst/>
            <a:gdLst>
              <a:gd name="connsiteX0" fmla="*/ 198121 w 607639"/>
              <a:gd name="connsiteY0" fmla="*/ 347033 h 474835"/>
              <a:gd name="connsiteX1" fmla="*/ 198121 w 607639"/>
              <a:gd name="connsiteY1" fmla="*/ 370229 h 474835"/>
              <a:gd name="connsiteX2" fmla="*/ 212274 w 607639"/>
              <a:gd name="connsiteY2" fmla="*/ 389159 h 474835"/>
              <a:gd name="connsiteX3" fmla="*/ 331101 w 607639"/>
              <a:gd name="connsiteY3" fmla="*/ 424797 h 474835"/>
              <a:gd name="connsiteX4" fmla="*/ 356647 w 607639"/>
              <a:gd name="connsiteY4" fmla="*/ 405779 h 474835"/>
              <a:gd name="connsiteX5" fmla="*/ 356647 w 607639"/>
              <a:gd name="connsiteY5" fmla="*/ 394581 h 474835"/>
              <a:gd name="connsiteX6" fmla="*/ 39622 w 607639"/>
              <a:gd name="connsiteY6" fmla="*/ 118691 h 474835"/>
              <a:gd name="connsiteX7" fmla="*/ 79245 w 607639"/>
              <a:gd name="connsiteY7" fmla="*/ 158240 h 474835"/>
              <a:gd name="connsiteX8" fmla="*/ 79245 w 607639"/>
              <a:gd name="connsiteY8" fmla="*/ 316524 h 474835"/>
              <a:gd name="connsiteX9" fmla="*/ 39622 w 607639"/>
              <a:gd name="connsiteY9" fmla="*/ 356073 h 474835"/>
              <a:gd name="connsiteX10" fmla="*/ 0 w 607639"/>
              <a:gd name="connsiteY10" fmla="*/ 316524 h 474835"/>
              <a:gd name="connsiteX11" fmla="*/ 0 w 607639"/>
              <a:gd name="connsiteY11" fmla="*/ 158240 h 474835"/>
              <a:gd name="connsiteX12" fmla="*/ 39622 w 607639"/>
              <a:gd name="connsiteY12" fmla="*/ 118691 h 474835"/>
              <a:gd name="connsiteX13" fmla="*/ 488736 w 607639"/>
              <a:gd name="connsiteY13" fmla="*/ 44597 h 474835"/>
              <a:gd name="connsiteX14" fmla="*/ 488736 w 607639"/>
              <a:gd name="connsiteY14" fmla="*/ 430130 h 474835"/>
              <a:gd name="connsiteX15" fmla="*/ 396167 w 607639"/>
              <a:gd name="connsiteY15" fmla="*/ 406401 h 474835"/>
              <a:gd name="connsiteX16" fmla="*/ 372312 w 607639"/>
              <a:gd name="connsiteY16" fmla="*/ 453415 h 474835"/>
              <a:gd name="connsiteX17" fmla="*/ 319797 w 607639"/>
              <a:gd name="connsiteY17" fmla="*/ 462658 h 474835"/>
              <a:gd name="connsiteX18" fmla="*/ 200881 w 607639"/>
              <a:gd name="connsiteY18" fmla="*/ 427019 h 474835"/>
              <a:gd name="connsiteX19" fmla="*/ 158512 w 607639"/>
              <a:gd name="connsiteY19" fmla="*/ 370229 h 474835"/>
              <a:gd name="connsiteX20" fmla="*/ 158512 w 607639"/>
              <a:gd name="connsiteY20" fmla="*/ 335213 h 474835"/>
              <a:gd name="connsiteX21" fmla="*/ 118903 w 607639"/>
              <a:gd name="connsiteY21" fmla="*/ 323304 h 474835"/>
              <a:gd name="connsiteX22" fmla="*/ 118903 w 607639"/>
              <a:gd name="connsiteY22" fmla="*/ 151512 h 474835"/>
              <a:gd name="connsiteX23" fmla="*/ 567937 w 607639"/>
              <a:gd name="connsiteY23" fmla="*/ 0 h 474835"/>
              <a:gd name="connsiteX24" fmla="*/ 607639 w 607639"/>
              <a:gd name="connsiteY24" fmla="*/ 39547 h 474835"/>
              <a:gd name="connsiteX25" fmla="*/ 607639 w 607639"/>
              <a:gd name="connsiteY25" fmla="*/ 435199 h 474835"/>
              <a:gd name="connsiteX26" fmla="*/ 567937 w 607639"/>
              <a:gd name="connsiteY26" fmla="*/ 474835 h 474835"/>
              <a:gd name="connsiteX27" fmla="*/ 528323 w 607639"/>
              <a:gd name="connsiteY27" fmla="*/ 435199 h 474835"/>
              <a:gd name="connsiteX28" fmla="*/ 528323 w 607639"/>
              <a:gd name="connsiteY28" fmla="*/ 39547 h 474835"/>
              <a:gd name="connsiteX29" fmla="*/ 567937 w 607639"/>
              <a:gd name="connsiteY29" fmla="*/ 0 h 47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7639" h="474835">
                <a:moveTo>
                  <a:pt x="198121" y="347033"/>
                </a:moveTo>
                <a:lnTo>
                  <a:pt x="198121" y="370229"/>
                </a:lnTo>
                <a:cubicBezTo>
                  <a:pt x="198121" y="378939"/>
                  <a:pt x="203818" y="386582"/>
                  <a:pt x="212274" y="389159"/>
                </a:cubicBezTo>
                <a:lnTo>
                  <a:pt x="331101" y="424797"/>
                </a:lnTo>
                <a:cubicBezTo>
                  <a:pt x="344452" y="428619"/>
                  <a:pt x="356647" y="418665"/>
                  <a:pt x="356647" y="405779"/>
                </a:cubicBezTo>
                <a:lnTo>
                  <a:pt x="356647" y="394581"/>
                </a:lnTo>
                <a:close/>
                <a:moveTo>
                  <a:pt x="39622" y="118691"/>
                </a:moveTo>
                <a:cubicBezTo>
                  <a:pt x="61526" y="118691"/>
                  <a:pt x="79245" y="136377"/>
                  <a:pt x="79245" y="158240"/>
                </a:cubicBezTo>
                <a:lnTo>
                  <a:pt x="79245" y="316524"/>
                </a:lnTo>
                <a:cubicBezTo>
                  <a:pt x="79245" y="338298"/>
                  <a:pt x="61526" y="356073"/>
                  <a:pt x="39622" y="356073"/>
                </a:cubicBezTo>
                <a:cubicBezTo>
                  <a:pt x="17808" y="356073"/>
                  <a:pt x="0" y="338298"/>
                  <a:pt x="0" y="316524"/>
                </a:cubicBezTo>
                <a:lnTo>
                  <a:pt x="0" y="158240"/>
                </a:lnTo>
                <a:cubicBezTo>
                  <a:pt x="0" y="136377"/>
                  <a:pt x="17808" y="118691"/>
                  <a:pt x="39622" y="118691"/>
                </a:cubicBezTo>
                <a:close/>
                <a:moveTo>
                  <a:pt x="488736" y="44597"/>
                </a:moveTo>
                <a:lnTo>
                  <a:pt x="488736" y="430130"/>
                </a:lnTo>
                <a:lnTo>
                  <a:pt x="396167" y="406401"/>
                </a:lnTo>
                <a:cubicBezTo>
                  <a:pt x="395989" y="425064"/>
                  <a:pt x="387355" y="442217"/>
                  <a:pt x="372312" y="453415"/>
                </a:cubicBezTo>
                <a:cubicBezTo>
                  <a:pt x="356736" y="464968"/>
                  <a:pt x="337332" y="467990"/>
                  <a:pt x="319797" y="462658"/>
                </a:cubicBezTo>
                <a:lnTo>
                  <a:pt x="200881" y="427019"/>
                </a:lnTo>
                <a:cubicBezTo>
                  <a:pt x="175513" y="419465"/>
                  <a:pt x="158512" y="396625"/>
                  <a:pt x="158512" y="370229"/>
                </a:cubicBezTo>
                <a:lnTo>
                  <a:pt x="158512" y="335213"/>
                </a:lnTo>
                <a:lnTo>
                  <a:pt x="118903" y="323304"/>
                </a:lnTo>
                <a:lnTo>
                  <a:pt x="118903" y="151512"/>
                </a:lnTo>
                <a:close/>
                <a:moveTo>
                  <a:pt x="567937" y="0"/>
                </a:moveTo>
                <a:cubicBezTo>
                  <a:pt x="589835" y="0"/>
                  <a:pt x="607639" y="17774"/>
                  <a:pt x="607639" y="39547"/>
                </a:cubicBezTo>
                <a:lnTo>
                  <a:pt x="607639" y="435199"/>
                </a:lnTo>
                <a:cubicBezTo>
                  <a:pt x="607639" y="457061"/>
                  <a:pt x="589835" y="474835"/>
                  <a:pt x="567937" y="474835"/>
                </a:cubicBezTo>
                <a:cubicBezTo>
                  <a:pt x="546127" y="474835"/>
                  <a:pt x="528323" y="457061"/>
                  <a:pt x="528323" y="435199"/>
                </a:cubicBezTo>
                <a:lnTo>
                  <a:pt x="528323" y="39547"/>
                </a:lnTo>
                <a:cubicBezTo>
                  <a:pt x="528323" y="17774"/>
                  <a:pt x="546127" y="0"/>
                  <a:pt x="5679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81" name="矩形 80"/>
          <p:cNvSpPr/>
          <p:nvPr>
            <p:custDataLst>
              <p:tags r:id="rId19"/>
            </p:custDataLst>
          </p:nvPr>
        </p:nvSpPr>
        <p:spPr>
          <a:xfrm>
            <a:off x="841375" y="3998595"/>
            <a:ext cx="3255010" cy="1379855"/>
          </a:xfrm>
          <a:prstGeom prst="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36AE02"/>
                </a:gs>
                <a:gs pos="83000">
                  <a:srgbClr val="76BC3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609600" dist="228600" dir="2700000" algn="tl" rotWithShape="0">
              <a:srgbClr val="3A7F15">
                <a:alpha val="40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20"/>
            </p:custDataLst>
          </p:nvPr>
        </p:nvSpPr>
        <p:spPr>
          <a:xfrm>
            <a:off x="1170356" y="4405110"/>
            <a:ext cx="24384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r"/>
            <a:r>
              <a:rPr lang="zh-CN" altLang="en-US" sz="2400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</a:rPr>
              <a:t>推动绿色养殖</a:t>
            </a:r>
            <a:r>
              <a:rPr lang="zh-CN" altLang="en-US" sz="2400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</a:rPr>
              <a:t>发展</a:t>
            </a:r>
            <a:endParaRPr lang="zh-CN" altLang="en-US" sz="2400" dirty="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75S" panose="00020600040101010101" charset="-122"/>
              <a:ea typeface="汉仪旗黑-75S" panose="00020600040101010101" charset="-122"/>
            </a:endParaRPr>
          </a:p>
        </p:txBody>
      </p:sp>
      <p:sp>
        <p:nvSpPr>
          <p:cNvPr id="84" name="矩形 83"/>
          <p:cNvSpPr/>
          <p:nvPr>
            <p:custDataLst>
              <p:tags r:id="rId21"/>
            </p:custDataLst>
          </p:nvPr>
        </p:nvSpPr>
        <p:spPr>
          <a:xfrm>
            <a:off x="7985760" y="1889760"/>
            <a:ext cx="3391535" cy="1379855"/>
          </a:xfrm>
          <a:prstGeom prst="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36AE02"/>
                </a:gs>
                <a:gs pos="83000">
                  <a:srgbClr val="76BC3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609600" dist="228600" dir="2700000" algn="tl" rotWithShape="0">
              <a:srgbClr val="3A7F15">
                <a:alpha val="40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5" name="文本框 84"/>
          <p:cNvSpPr txBox="1"/>
          <p:nvPr>
            <p:custDataLst>
              <p:tags r:id="rId22"/>
            </p:custDataLst>
          </p:nvPr>
        </p:nvSpPr>
        <p:spPr>
          <a:xfrm>
            <a:off x="8025181" y="2338820"/>
            <a:ext cx="33528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r"/>
            <a:r>
              <a:rPr lang="zh-CN" altLang="en-US" sz="2400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</a:rPr>
              <a:t>研究不同养殖环境</a:t>
            </a:r>
            <a:r>
              <a:rPr lang="zh-CN" altLang="en-US" sz="2400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</a:rPr>
              <a:t>适应性</a:t>
            </a:r>
            <a:endParaRPr lang="zh-CN" altLang="en-US" sz="2400" dirty="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75S" panose="00020600040101010101" charset="-122"/>
              <a:ea typeface="汉仪旗黑-75S" panose="00020600040101010101" charset="-122"/>
            </a:endParaRPr>
          </a:p>
        </p:txBody>
      </p:sp>
      <p:sp>
        <p:nvSpPr>
          <p:cNvPr id="87" name="矩形 86"/>
          <p:cNvSpPr/>
          <p:nvPr>
            <p:custDataLst>
              <p:tags r:id="rId23"/>
            </p:custDataLst>
          </p:nvPr>
        </p:nvSpPr>
        <p:spPr>
          <a:xfrm>
            <a:off x="8084185" y="3998595"/>
            <a:ext cx="3255010" cy="1379855"/>
          </a:xfrm>
          <a:prstGeom prst="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36AE02"/>
                </a:gs>
                <a:gs pos="83000">
                  <a:srgbClr val="76BC3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609600" dist="228600" dir="2700000" algn="tl" rotWithShape="0">
              <a:srgbClr val="3A7F15">
                <a:alpha val="40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8" name="文本框 87"/>
          <p:cNvSpPr txBox="1"/>
          <p:nvPr>
            <p:custDataLst>
              <p:tags r:id="rId24"/>
            </p:custDataLst>
          </p:nvPr>
        </p:nvSpPr>
        <p:spPr>
          <a:xfrm>
            <a:off x="8184566" y="4405110"/>
            <a:ext cx="27432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r"/>
            <a:r>
              <a:rPr lang="zh-CN" altLang="en-US" sz="2400" dirty="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汉仪旗黑-75S" panose="00020600040101010101" charset="-122"/>
                <a:ea typeface="汉仪旗黑-75S" panose="00020600040101010101" charset="-122"/>
              </a:rPr>
              <a:t>验证抗生素替代潜力</a:t>
            </a:r>
            <a:endParaRPr lang="zh-CN" altLang="en-US" sz="2400" dirty="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汉仪旗黑-75S" panose="00020600040101010101" charset="-122"/>
              <a:ea typeface="汉仪旗黑-75S" panose="00020600040101010101" charset="-122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lum bright="12000"/>
          </a:blip>
          <a:srcRect t="48496" b="10258"/>
          <a:stretch>
            <a:fillRect/>
          </a:stretch>
        </p:blipFill>
        <p:spPr>
          <a:xfrm>
            <a:off x="-5080" y="4185285"/>
            <a:ext cx="12197080" cy="2746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">
            <a:alphaModFix amt="36000"/>
          </a:blip>
          <a:srcRect b="51069"/>
          <a:stretch>
            <a:fillRect/>
          </a:stretch>
        </p:blipFill>
        <p:spPr>
          <a:xfrm>
            <a:off x="-5080" y="0"/>
            <a:ext cx="12197080" cy="419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43150" y="1247775"/>
            <a:ext cx="7499350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1500">
                <a:gradFill>
                  <a:gsLst>
                    <a:gs pos="0">
                      <a:srgbClr val="50AD1D"/>
                    </a:gs>
                    <a:gs pos="100000">
                      <a:srgbClr val="224B0C"/>
                    </a:gs>
                  </a:gsLst>
                  <a:lin ang="5400000" scaled="0"/>
                </a:gradFill>
                <a:latin typeface="庞门正道标题体" panose="02010600030101010101" charset="-122"/>
                <a:ea typeface="庞门正道标题体" panose="02010600030101010101" charset="-122"/>
                <a:cs typeface="汉仪尚巍手书简" panose="00020600040101010101" charset="-122"/>
                <a:sym typeface="+mn-ea"/>
              </a:rPr>
              <a:t>感谢观看</a:t>
            </a:r>
            <a:endParaRPr lang="zh-CN" altLang="en-US" sz="11500">
              <a:gradFill>
                <a:gsLst>
                  <a:gs pos="0">
                    <a:srgbClr val="50AD1D"/>
                  </a:gs>
                  <a:gs pos="100000">
                    <a:srgbClr val="224B0C"/>
                  </a:gs>
                </a:gsLst>
                <a:lin ang="5400000" scaled="0"/>
              </a:gradFill>
              <a:latin typeface="庞门正道标题体" panose="02010600030101010101" charset="-122"/>
              <a:ea typeface="庞门正道标题体" panose="02010600030101010101" charset="-122"/>
              <a:cs typeface="汉仪尚巍手书简" panose="00020600040101010101" charset="-122"/>
              <a:sym typeface="+mn-ea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3"/>
          <a:srcRect l="35637" b="30352"/>
          <a:stretch>
            <a:fillRect/>
          </a:stretch>
        </p:blipFill>
        <p:spPr>
          <a:xfrm>
            <a:off x="8406765" y="-686435"/>
            <a:ext cx="4163060" cy="47764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0"/>
          <p:cNvPicPr/>
          <p:nvPr/>
        </p:nvPicPr>
        <p:blipFill>
          <a:blip r:embed="rId3"/>
          <a:srcRect l="9601" t="59176" r="50079" b="9843"/>
          <a:stretch>
            <a:fillRect/>
          </a:stretch>
        </p:blipFill>
        <p:spPr>
          <a:xfrm>
            <a:off x="435610" y="3676015"/>
            <a:ext cx="2607945" cy="21247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/>
          <p:nvPr>
            <p:custDataLst>
              <p:tags r:id="rId4"/>
            </p:custDataLst>
          </p:nvPr>
        </p:nvPicPr>
        <p:blipFill>
          <a:blip r:embed="rId5"/>
        </p:blipFill>
        <p:spPr>
          <a:xfrm>
            <a:off x="3043555" y="4401185"/>
            <a:ext cx="5207000" cy="16510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TABLE_ENDDRAG_ORIGIN_RECT" val="800*259"/>
  <p:tag name="TABLE_ENDDRAG_RECT" val="66*226*800*259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TABLE_ENDDRAG_ORIGIN_RECT" val="638*132"/>
  <p:tag name="TABLE_ENDDRAG_RECT" val="138*261*638*132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TABLE_ENDDRAG_ORIGIN_RECT" val="823*217"/>
  <p:tag name="TABLE_ENDDRAG_RECT" val="66*247*823*217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2.xml><?xml version="1.0" encoding="utf-8"?>
<p:tagLst xmlns:p="http://schemas.openxmlformats.org/presentationml/2006/main">
  <p:tag name="COMMONDATA" val="eyJoZGlkIjoiYzI5NjdiMDg2OWUxYjcyZDEzYmMyY2E3OGVkMDJhMTgifQ=="/>
  <p:tag name="KSO_WPP_MARK_KEY" val="8a5a71ad-49b2-4cb1-a5be-2613d0463c05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汉仪旗黑-50简"/>
        <a:cs typeface=""/>
      </a:majorFont>
      <a:minorFont>
        <a:latin typeface="Arial"/>
        <a:ea typeface="汉仪旗黑-50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0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0简"/>
        <a:ea typeface=""/>
        <a:cs typeface=""/>
        <a:font script="Jpan" typeface="ＭＳ Ｐゴシック"/>
        <a:font script="Hang" typeface="맑은 고딕"/>
        <a:font script="Hans" typeface="汉仪旗黑-50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0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0简"/>
        <a:ea typeface=""/>
        <a:cs typeface=""/>
        <a:font script="Jpan" typeface="ＭＳ Ｐゴシック"/>
        <a:font script="Hang" typeface="맑은 고딕"/>
        <a:font script="Hans" typeface="汉仪旗黑-50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3772</Words>
  <Application>WPS 文字</Application>
  <PresentationFormat>宽屏</PresentationFormat>
  <Paragraphs>608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45" baseType="lpstr">
      <vt:lpstr>Arial</vt:lpstr>
      <vt:lpstr>宋体</vt:lpstr>
      <vt:lpstr>Wingdings</vt:lpstr>
      <vt:lpstr>汉仪旗黑-50简</vt:lpstr>
      <vt:lpstr>汉仪中黑KW</vt:lpstr>
      <vt:lpstr>Wingdings</vt:lpstr>
      <vt:lpstr>汉仪旗黑-75S</vt:lpstr>
      <vt:lpstr>汉仪尚巍手书简</vt:lpstr>
      <vt:lpstr>苹方-简</vt:lpstr>
      <vt:lpstr>微软雅黑</vt:lpstr>
      <vt:lpstr>汉仪旗黑</vt:lpstr>
      <vt:lpstr>宋体</vt:lpstr>
      <vt:lpstr>Arial Unicode MS</vt:lpstr>
      <vt:lpstr>黑体</vt:lpstr>
      <vt:lpstr>汉仪书宋二KW</vt:lpstr>
      <vt:lpstr>汉仪尚巍手书简</vt:lpstr>
      <vt:lpstr>汉仪旗黑-50简</vt:lpstr>
      <vt:lpstr>汉仪旗黑-75S</vt:lpstr>
      <vt:lpstr>黑体</vt:lpstr>
      <vt:lpstr>潮字社国风鸿书简-闪</vt:lpstr>
      <vt:lpstr>庞门正道标题体</vt:lpstr>
      <vt:lpstr>宋体</vt:lpstr>
      <vt:lpstr>Times New Roman</vt:lpstr>
      <vt:lpstr>sans-serif</vt:lpstr>
      <vt:lpstr>Thonburi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偻党嫌衬旧</cp:lastModifiedBy>
  <cp:revision>193</cp:revision>
  <dcterms:created xsi:type="dcterms:W3CDTF">2025-05-30T04:22:48Z</dcterms:created>
  <dcterms:modified xsi:type="dcterms:W3CDTF">2025-05-30T04:22:48Z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A1DDFD42EC0226579832396833CB2ACB_43</vt:lpwstr>
  </property>
  <property fmtid="{D5CDD505-2E9C-101B-9397-08002B2CF9AE}" pid="4" name="KSOTemplateUUID">
    <vt:lpwstr>v1.0_mb_ZhKRzIkY8JjrR2gL6tGRsQ==</vt:lpwstr>
  </property>
</Properties>
</file>